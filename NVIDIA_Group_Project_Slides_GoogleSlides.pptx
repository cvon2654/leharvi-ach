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Total assets ($B)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NVDA</c:v>
                </c:pt>
              </c:strCache>
            </c:strRef>
          </c:tx>
          <c:spPr>
            <a:solidFill>
              <a:srgbClr val="76B900"/>
            </a:solidFill>
            <a:ln w="3175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44.2</c:v>
                </c:pt>
                <c:pt idx="1">
                  <c:v>41.2</c:v>
                </c:pt>
                <c:pt idx="2">
                  <c:v>65.7</c:v>
                </c:pt>
                <c:pt idx="3">
                  <c:v>111.6</c:v>
                </c:pt>
                <c:pt idx="4">
                  <c:v>206.8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AMD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12.4</c:v>
                </c:pt>
                <c:pt idx="1">
                  <c:v>67.6</c:v>
                </c:pt>
                <c:pt idx="2">
                  <c:v>67.9</c:v>
                </c:pt>
                <c:pt idx="3">
                  <c:v>69.2</c:v>
                </c:pt>
                <c:pt idx="4">
                  <c:v>76.9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INTC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168.4</c:v>
                </c:pt>
                <c:pt idx="1">
                  <c:v>182.1</c:v>
                </c:pt>
                <c:pt idx="2">
                  <c:v>191.6</c:v>
                </c:pt>
                <c:pt idx="3">
                  <c:v>196.5</c:v>
                </c:pt>
                <c:pt idx="4">
                  <c:v>211.4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AVGO</c:v>
                </c:pt>
              </c:strCache>
            </c:strRef>
          </c:tx>
          <c:spPr>
            <a:solidFill>
              <a:srgbClr val="8E8E8E"/>
            </a:solidFill>
            <a:ln w="31750" cap="flat">
              <a:solidFill>
                <a:srgbClr val="8E8E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E8E8E"/>
              </a:solidFill>
              <a:ln w="9525" cap="flat">
                <a:solidFill>
                  <a:srgbClr val="8E8E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75.6</c:v>
                </c:pt>
                <c:pt idx="1">
                  <c:v>73.2</c:v>
                </c:pt>
                <c:pt idx="2">
                  <c:v>72.9</c:v>
                </c:pt>
                <c:pt idx="3">
                  <c:v>165.6</c:v>
                </c:pt>
                <c:pt idx="4">
                  <c:v>171.1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D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Shareholders' equity ($B)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NVDA</c:v>
                </c:pt>
              </c:strCache>
            </c:strRef>
          </c:tx>
          <c:spPr>
            <a:solidFill>
              <a:srgbClr val="76B900"/>
            </a:solidFill>
            <a:ln w="3175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26.6</c:v>
                </c:pt>
                <c:pt idx="1">
                  <c:v>22.1</c:v>
                </c:pt>
                <c:pt idx="2">
                  <c:v>43</c:v>
                </c:pt>
                <c:pt idx="3">
                  <c:v>79.3</c:v>
                </c:pt>
                <c:pt idx="4">
                  <c:v>157.3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AMD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7.5</c:v>
                </c:pt>
                <c:pt idx="1">
                  <c:v>54.8</c:v>
                </c:pt>
                <c:pt idx="2">
                  <c:v>55.9</c:v>
                </c:pt>
                <c:pt idx="3">
                  <c:v>57.6</c:v>
                </c:pt>
                <c:pt idx="4">
                  <c:v>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INTC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95.4</c:v>
                </c:pt>
                <c:pt idx="1">
                  <c:v>103.3</c:v>
                </c:pt>
                <c:pt idx="2">
                  <c:v>110</c:v>
                </c:pt>
                <c:pt idx="3">
                  <c:v>105</c:v>
                </c:pt>
                <c:pt idx="4">
                  <c:v>126.4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AVGO</c:v>
                </c:pt>
              </c:strCache>
            </c:strRef>
          </c:tx>
          <c:spPr>
            <a:solidFill>
              <a:srgbClr val="8E8E8E"/>
            </a:solidFill>
            <a:ln w="31750" cap="flat">
              <a:solidFill>
                <a:srgbClr val="8E8E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E8E8E"/>
              </a:solidFill>
              <a:ln w="9525" cap="flat">
                <a:solidFill>
                  <a:srgbClr val="8E8E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22.7</c:v>
                </c:pt>
                <c:pt idx="2">
                  <c:v>24</c:v>
                </c:pt>
                <c:pt idx="3">
                  <c:v>67.7</c:v>
                </c:pt>
                <c:pt idx="4">
                  <c:v>81.3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D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Debt / equity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NVDA</c:v>
                </c:pt>
              </c:strCache>
            </c:strRef>
          </c:tx>
          <c:spPr>
            <a:solidFill>
              <a:srgbClr val="76B900"/>
            </a:solidFill>
            <a:ln w="3175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0.54</c:v>
                </c:pt>
                <c:pt idx="2">
                  <c:v>0.26</c:v>
                </c:pt>
                <c:pt idx="3">
                  <c:v>0.13</c:v>
                </c:pt>
                <c:pt idx="4">
                  <c:v>0.07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AMD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0.09</c:v>
                </c:pt>
                <c:pt idx="1">
                  <c:v>0.05</c:v>
                </c:pt>
                <c:pt idx="2">
                  <c:v>0.05</c:v>
                </c:pt>
                <c:pt idx="3">
                  <c:v>0.04</c:v>
                </c:pt>
                <c:pt idx="4">
                  <c:v>0.06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INTC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0.48</c:v>
                </c:pt>
                <c:pt idx="4">
                  <c:v>0.37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AVGO</c:v>
                </c:pt>
              </c:strCache>
            </c:strRef>
          </c:tx>
          <c:spPr>
            <a:solidFill>
              <a:srgbClr val="8E8E8E"/>
            </a:solidFill>
            <a:ln w="31750" cap="flat">
              <a:solidFill>
                <a:srgbClr val="8E8E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E8E8E"/>
              </a:solidFill>
              <a:ln w="9525" cap="flat">
                <a:solidFill>
                  <a:srgbClr val="8E8E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1.61</c:v>
                </c:pt>
                <c:pt idx="1">
                  <c:v>1.76</c:v>
                </c:pt>
                <c:pt idx="2">
                  <c:v>1.65</c:v>
                </c:pt>
                <c:pt idx="3">
                  <c:v>1.02</c:v>
                </c:pt>
                <c:pt idx="4">
                  <c:v>0.82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(NVDA)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 and balance sheet trends vs. AMD, Intel and Broadcom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check-in | Data as of Oct 27-29,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Ratios: NVIDIA vs. competitors and industry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28016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(trailing)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(loss)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 avg / 44.5 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(forward)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/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equity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/ equity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stockanalysis.com (Oct 27, 2026); *Benzinga semiconductor peer table (Sep 18, 2026), peer average excludes NVDA. n/a = not found.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patterns and articles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P/E, best profitability: 27.5x trailing vs. 43-143x for peers.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elite: 75% gross and 64% net, with ROE of 117%.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P/E (18x) is far below trailing, so the market expects earnings to keep climbing fast.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is unprofitable and AMD is priced on future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that explain 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Motley Fool, Aug 23, 2026: "Your Last Chance to Buy Nvidia Stock for Cheap in 2026 May Be Near." NVDA has by far the lowest trailing P/E vs. AMD, AVGO and MRVL, and trades near the S&amp;P 500 on forward P/E.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Rallies.ai, Apr 21, 2026: "NVIDIA's $4.3 Trillion Valuation Faces Growth Limits as Rivals Chip Away Margins." Margins above 70% face pressure from custom ASICs and AMD software.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sheet: 5-year trends vs. competitors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2788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200400" y="1005840"/>
          <a:ext cx="2788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6035040" y="1005840"/>
          <a:ext cx="2788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fiscal years end in late Jan (FY26 = Jan 2026); peers shown for the closest calendar year (CY21-CY25). Debt includes leases. Source: stockanalysis.com.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patterns and articles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grew ~4.7x in four years ($44B to $207B), then to $320B by Jul 2026. Equity grew faster than debt, so D/E fell from 0.54 to 0.07.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rose from $2.6B to $31.6B as NVIDIA secures chip supply.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2026: ~$25B of notes issued, ~$94B of equity stakes, and $39.8B of buybacks in six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that explain 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Form 10-Q, quarter ended Jul 26, 2026 (SEC): debt note, inventory build, equity investments and buybacks.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Investing (Substack), Apr 10, 2026: "Nvidia: What's Next?" Inventory plus purchase commitments up sharply to secure supply, mostly for FY2027 revenue.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pairs peer-best margins with a lower P/E and a rapidly growing, low-debt balance sheet. The risks to discuss: margin pressure from rivals and growing supply and investment commitments.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stockanalysis.com (NVDA, AMD, INTC, AVGO balance sheets and statistics); Benzinga peer comparison, Sep 18, 2026; Motley Fool, Aug 23, 2026; Rallies.ai, Apr 21, 2026; NVIDIA 10-Q (Jul 26, 2026); Simple Investing Substack, Apr 10,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Financial Analysis</dc:title>
  <dc:subject>PptxGenJS Presentation</dc:subject>
  <dc:creator>PptxGenJS</dc:creator>
  <cp:lastModifiedBy>PptxGenJS</cp:lastModifiedBy>
  <cp:revision>1</cp:revision>
  <dcterms:created xsi:type="dcterms:W3CDTF">2026-10-29T18:55:09Z</dcterms:created>
  <dcterms:modified xsi:type="dcterms:W3CDTF">2026-10-29T18:55:09Z</dcterms:modified>
</cp:coreProperties>
</file>