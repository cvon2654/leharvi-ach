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Revenue</a:t>
            </a:r>
          </a:p>
        </c:rich>
      </c:tx>
      <c:layout/>
      <c:overlay val="0"/>
    </c:title>
    <c:autoTitleDeleted val="0"/>
    <c:plotArea>
      <c:layout/>
      <c:lineChart>
        <c:varyColors val="0"/>
        <c:ser>
          <c:idx val="0"/>
          <c:order val="0"/>
          <c:tx>
            <c:strRef>
              <c:f>Sheet1!$B$1</c:f>
              <c:strCache>
                <c:ptCount val="1"/>
                <c:pt idx="0">
                  <c:v>NVIDIA</c:v>
                </c:pt>
              </c:strCache>
            </c:strRef>
          </c:tx>
          <c:spPr>
            <a:solidFill>
              <a:srgbClr val="76B900"/>
            </a:solidFill>
            <a:ln w="31750" cap="flat">
              <a:solidFill>
                <a:srgbClr val="76B9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6B900"/>
              </a:solidFill>
              <a:ln w="9525" cap="flat">
                <a:solidFill>
                  <a:srgbClr val="76B900"/>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Sheet1!$B$2:$B$6</c:f>
              <c:numCache>
                <c:formatCode>General</c:formatCode>
                <c:ptCount val="5"/>
                <c:pt idx="0">
                  <c:v>26.9</c:v>
                </c:pt>
                <c:pt idx="1">
                  <c:v>27</c:v>
                </c:pt>
                <c:pt idx="2">
                  <c:v>60.9</c:v>
                </c:pt>
                <c:pt idx="3">
                  <c:v>130.5</c:v>
                </c:pt>
                <c:pt idx="4">
                  <c:v>215.9</c:v>
                </c:pt>
              </c:numCache>
            </c:numRef>
          </c:val>
          <c:smooth val="0"/>
        </c:ser>
        <c:ser>
          <c:idx val="1"/>
          <c:order val="1"/>
          <c:tx>
            <c:strRef>
              <c:f>Sheet1!$C$1</c:f>
              <c:strCache>
                <c:ptCount val="1"/>
                <c:pt idx="0">
                  <c:v>AMD</c:v>
                </c:pt>
              </c:strCache>
            </c:strRef>
          </c:tx>
          <c:spPr>
            <a:solidFill>
              <a:srgbClr val="C0392B"/>
            </a:solidFill>
            <a:ln w="3175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Sheet1!$C$2:$C$6</c:f>
              <c:numCache>
                <c:formatCode>General</c:formatCode>
                <c:ptCount val="5"/>
                <c:pt idx="0">
                  <c:v>16.4</c:v>
                </c:pt>
                <c:pt idx="1">
                  <c:v>23.6</c:v>
                </c:pt>
                <c:pt idx="2">
                  <c:v>22.7</c:v>
                </c:pt>
                <c:pt idx="3">
                  <c:v>25.8</c:v>
                </c:pt>
                <c:pt idx="4">
                  <c:v>34.6</c:v>
                </c:pt>
              </c:numCache>
            </c:numRef>
          </c:val>
          <c:smooth val="0"/>
        </c:ser>
        <c:ser>
          <c:idx val="2"/>
          <c:order val="2"/>
          <c:tx>
            <c:strRef>
              <c:f>Sheet1!$D$1</c:f>
              <c:strCache>
                <c:ptCount val="1"/>
                <c:pt idx="0">
                  <c:v>Intel</c:v>
                </c:pt>
              </c:strCache>
            </c:strRef>
          </c:tx>
          <c:spPr>
            <a:solidFill>
              <a:srgbClr val="2E86C1"/>
            </a:solidFill>
            <a:ln w="31750" cap="flat">
              <a:solidFill>
                <a:srgbClr val="2E86C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6C1"/>
              </a:solidFill>
              <a:ln w="9525" cap="flat">
                <a:solidFill>
                  <a:srgbClr val="2E86C1"/>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Sheet1!$D$2:$D$6</c:f>
              <c:numCache>
                <c:formatCode>General</c:formatCode>
                <c:ptCount val="5"/>
                <c:pt idx="0">
                  <c:v>79</c:v>
                </c:pt>
                <c:pt idx="1">
                  <c:v>63.1</c:v>
                </c:pt>
                <c:pt idx="2">
                  <c:v>54.2</c:v>
                </c:pt>
                <c:pt idx="3">
                  <c:v>53.1</c:v>
                </c:pt>
                <c:pt idx="4">
                  <c:v>52.9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B5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DF"/>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5F6B5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A1A1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Net income</a:t>
            </a:r>
          </a:p>
        </c:rich>
      </c:tx>
      <c:layout/>
      <c:overlay val="0"/>
    </c:title>
    <c:autoTitleDeleted val="0"/>
    <c:plotArea>
      <c:layout/>
      <c:lineChart>
        <c:varyColors val="0"/>
        <c:ser>
          <c:idx val="0"/>
          <c:order val="0"/>
          <c:tx>
            <c:strRef>
              <c:f>Sheet1!$B$1</c:f>
              <c:strCache>
                <c:ptCount val="1"/>
                <c:pt idx="0">
                  <c:v>NVIDIA</c:v>
                </c:pt>
              </c:strCache>
            </c:strRef>
          </c:tx>
          <c:spPr>
            <a:solidFill>
              <a:srgbClr val="76B900"/>
            </a:solidFill>
            <a:ln w="31750" cap="flat">
              <a:solidFill>
                <a:srgbClr val="76B9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6B900"/>
              </a:solidFill>
              <a:ln w="9525" cap="flat">
                <a:solidFill>
                  <a:srgbClr val="76B900"/>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Sheet1!$B$2:$B$6</c:f>
              <c:numCache>
                <c:formatCode>General</c:formatCode>
                <c:ptCount val="5"/>
                <c:pt idx="0">
                  <c:v>9.8</c:v>
                </c:pt>
                <c:pt idx="1">
                  <c:v>4.4</c:v>
                </c:pt>
                <c:pt idx="2">
                  <c:v>29.8</c:v>
                </c:pt>
                <c:pt idx="3">
                  <c:v>72.9</c:v>
                </c:pt>
                <c:pt idx="4">
                  <c:v>120.1</c:v>
                </c:pt>
              </c:numCache>
            </c:numRef>
          </c:val>
          <c:smooth val="0"/>
        </c:ser>
        <c:ser>
          <c:idx val="1"/>
          <c:order val="1"/>
          <c:tx>
            <c:strRef>
              <c:f>Sheet1!$C$1</c:f>
              <c:strCache>
                <c:ptCount val="1"/>
                <c:pt idx="0">
                  <c:v>AMD</c:v>
                </c:pt>
              </c:strCache>
            </c:strRef>
          </c:tx>
          <c:spPr>
            <a:solidFill>
              <a:srgbClr val="C0392B"/>
            </a:solidFill>
            <a:ln w="3175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Sheet1!$C$2:$C$6</c:f>
              <c:numCache>
                <c:formatCode>General</c:formatCode>
                <c:ptCount val="5"/>
                <c:pt idx="0">
                  <c:v>3.2</c:v>
                </c:pt>
                <c:pt idx="1">
                  <c:v>1.3</c:v>
                </c:pt>
                <c:pt idx="2">
                  <c:v>0.9</c:v>
                </c:pt>
                <c:pt idx="3">
                  <c:v>1.6</c:v>
                </c:pt>
                <c:pt idx="4">
                  <c:v>4.3</c:v>
                </c:pt>
              </c:numCache>
            </c:numRef>
          </c:val>
          <c:smooth val="0"/>
        </c:ser>
        <c:ser>
          <c:idx val="2"/>
          <c:order val="2"/>
          <c:tx>
            <c:strRef>
              <c:f>Sheet1!$D$1</c:f>
              <c:strCache>
                <c:ptCount val="1"/>
                <c:pt idx="0">
                  <c:v>Intel</c:v>
                </c:pt>
              </c:strCache>
            </c:strRef>
          </c:tx>
          <c:spPr>
            <a:solidFill>
              <a:srgbClr val="2E86C1"/>
            </a:solidFill>
            <a:ln w="31750" cap="flat">
              <a:solidFill>
                <a:srgbClr val="2E86C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6C1"/>
              </a:solidFill>
              <a:ln w="9525" cap="flat">
                <a:solidFill>
                  <a:srgbClr val="2E86C1"/>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Sheet1!$D$2:$D$6</c:f>
              <c:numCache>
                <c:formatCode>General</c:formatCode>
                <c:ptCount val="5"/>
                <c:pt idx="0">
                  <c:v>19.9</c:v>
                </c:pt>
                <c:pt idx="1">
                  <c:v>8</c:v>
                </c:pt>
                <c:pt idx="2">
                  <c:v>1.7</c:v>
                </c:pt>
                <c:pt idx="3">
                  <c:v>-18.8</c:v>
                </c:pt>
                <c:pt idx="4">
                  <c:v>-0.3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B5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DF"/>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5F6B5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A1A1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Research &amp; development</a:t>
            </a:r>
          </a:p>
        </c:rich>
      </c:tx>
      <c:layout/>
      <c:overlay val="0"/>
    </c:title>
    <c:autoTitleDeleted val="0"/>
    <c:plotArea>
      <c:layout/>
      <c:lineChart>
        <c:varyColors val="0"/>
        <c:ser>
          <c:idx val="0"/>
          <c:order val="0"/>
          <c:tx>
            <c:strRef>
              <c:f>Sheet1!$B$1</c:f>
              <c:strCache>
                <c:ptCount val="1"/>
                <c:pt idx="0">
                  <c:v>NVIDIA</c:v>
                </c:pt>
              </c:strCache>
            </c:strRef>
          </c:tx>
          <c:spPr>
            <a:solidFill>
              <a:srgbClr val="76B900"/>
            </a:solidFill>
            <a:ln w="31750" cap="flat">
              <a:solidFill>
                <a:srgbClr val="76B9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6B900"/>
              </a:solidFill>
              <a:ln w="9525" cap="flat">
                <a:solidFill>
                  <a:srgbClr val="76B900"/>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Sheet1!$B$2:$B$6</c:f>
              <c:numCache>
                <c:formatCode>General</c:formatCode>
                <c:ptCount val="5"/>
                <c:pt idx="0">
                  <c:v>5.3</c:v>
                </c:pt>
                <c:pt idx="1">
                  <c:v>7.3</c:v>
                </c:pt>
                <c:pt idx="2">
                  <c:v>8.7</c:v>
                </c:pt>
                <c:pt idx="3">
                  <c:v>12.9</c:v>
                </c:pt>
                <c:pt idx="4">
                  <c:v>18.5</c:v>
                </c:pt>
              </c:numCache>
            </c:numRef>
          </c:val>
          <c:smooth val="0"/>
        </c:ser>
        <c:ser>
          <c:idx val="1"/>
          <c:order val="1"/>
          <c:tx>
            <c:strRef>
              <c:f>Sheet1!$C$1</c:f>
              <c:strCache>
                <c:ptCount val="1"/>
                <c:pt idx="0">
                  <c:v>AMD</c:v>
                </c:pt>
              </c:strCache>
            </c:strRef>
          </c:tx>
          <c:spPr>
            <a:solidFill>
              <a:srgbClr val="C0392B"/>
            </a:solidFill>
            <a:ln w="3175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Sheet1!$C$2:$C$6</c:f>
              <c:numCache>
                <c:formatCode>General</c:formatCode>
                <c:ptCount val="5"/>
                <c:pt idx="0">
                  <c:v>2.8</c:v>
                </c:pt>
                <c:pt idx="1">
                  <c:v>5</c:v>
                </c:pt>
                <c:pt idx="2">
                  <c:v>5.9</c:v>
                </c:pt>
                <c:pt idx="3">
                  <c:v>6.5</c:v>
                </c:pt>
                <c:pt idx="4">
                  <c:v>8.1</c:v>
                </c:pt>
              </c:numCache>
            </c:numRef>
          </c:val>
          <c:smooth val="0"/>
        </c:ser>
        <c:ser>
          <c:idx val="2"/>
          <c:order val="2"/>
          <c:tx>
            <c:strRef>
              <c:f>Sheet1!$D$1</c:f>
              <c:strCache>
                <c:ptCount val="1"/>
                <c:pt idx="0">
                  <c:v>Intel</c:v>
                </c:pt>
              </c:strCache>
            </c:strRef>
          </c:tx>
          <c:spPr>
            <a:solidFill>
              <a:srgbClr val="2E86C1"/>
            </a:solidFill>
            <a:ln w="31750" cap="flat">
              <a:solidFill>
                <a:srgbClr val="2E86C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6C1"/>
              </a:solidFill>
              <a:ln w="9525" cap="flat">
                <a:solidFill>
                  <a:srgbClr val="2E86C1"/>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Sheet1!$D$2:$D$6</c:f>
              <c:numCache>
                <c:formatCode>General</c:formatCode>
                <c:ptCount val="5"/>
                <c:pt idx="0">
                  <c:v>15.2</c:v>
                </c:pt>
                <c:pt idx="1">
                  <c:v>17.5</c:v>
                </c:pt>
                <c:pt idx="2">
                  <c:v>16</c:v>
                </c:pt>
                <c:pt idx="3">
                  <c:v>16.5</c:v>
                </c:pt>
                <c:pt idx="4">
                  <c:v>13.8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B5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DF"/>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5F6B5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A1A1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Free cash flow (operating cash flow - capex)</a:t>
            </a:r>
          </a:p>
        </c:rich>
      </c:tx>
      <c:layout/>
      <c:overlay val="0"/>
    </c:title>
    <c:autoTitleDeleted val="0"/>
    <c:plotArea>
      <c:layout/>
      <c:lineChart>
        <c:varyColors val="0"/>
        <c:ser>
          <c:idx val="0"/>
          <c:order val="0"/>
          <c:tx>
            <c:strRef>
              <c:f>Sheet1!$B$1</c:f>
              <c:strCache>
                <c:ptCount val="1"/>
                <c:pt idx="0">
                  <c:v>NVIDIA</c:v>
                </c:pt>
              </c:strCache>
            </c:strRef>
          </c:tx>
          <c:spPr>
            <a:solidFill>
              <a:srgbClr val="76B900"/>
            </a:solidFill>
            <a:ln w="31750" cap="flat">
              <a:solidFill>
                <a:srgbClr val="76B9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6B900"/>
              </a:solidFill>
              <a:ln w="9525" cap="flat">
                <a:solidFill>
                  <a:srgbClr val="76B900"/>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Sheet1!$B$2:$B$6</c:f>
              <c:numCache>
                <c:formatCode>General</c:formatCode>
                <c:ptCount val="5"/>
                <c:pt idx="0">
                  <c:v>8.1</c:v>
                </c:pt>
                <c:pt idx="1">
                  <c:v>3.8</c:v>
                </c:pt>
                <c:pt idx="2">
                  <c:v>27</c:v>
                </c:pt>
                <c:pt idx="3">
                  <c:v>60.9</c:v>
                </c:pt>
                <c:pt idx="4">
                  <c:v>96.7</c:v>
                </c:pt>
              </c:numCache>
            </c:numRef>
          </c:val>
          <c:smooth val="0"/>
        </c:ser>
        <c:ser>
          <c:idx val="1"/>
          <c:order val="1"/>
          <c:tx>
            <c:strRef>
              <c:f>Sheet1!$C$1</c:f>
              <c:strCache>
                <c:ptCount val="1"/>
                <c:pt idx="0">
                  <c:v>AMD</c:v>
                </c:pt>
              </c:strCache>
            </c:strRef>
          </c:tx>
          <c:spPr>
            <a:solidFill>
              <a:srgbClr val="C0392B"/>
            </a:solidFill>
            <a:ln w="3175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Sheet1!$C$2:$C$6</c:f>
              <c:numCache>
                <c:formatCode>General</c:formatCode>
                <c:ptCount val="5"/>
                <c:pt idx="0">
                  <c:v>3.2</c:v>
                </c:pt>
                <c:pt idx="1">
                  <c:v>3.1</c:v>
                </c:pt>
                <c:pt idx="2">
                  <c:v>1.1</c:v>
                </c:pt>
                <c:pt idx="3">
                  <c:v>2.4</c:v>
                </c:pt>
                <c:pt idx="4">
                  <c:v>6.7</c:v>
                </c:pt>
              </c:numCache>
            </c:numRef>
          </c:val>
          <c:smooth val="0"/>
        </c:ser>
        <c:ser>
          <c:idx val="2"/>
          <c:order val="2"/>
          <c:tx>
            <c:strRef>
              <c:f>Sheet1!$D$1</c:f>
              <c:strCache>
                <c:ptCount val="1"/>
                <c:pt idx="0">
                  <c:v>Intel</c:v>
                </c:pt>
              </c:strCache>
            </c:strRef>
          </c:tx>
          <c:spPr>
            <a:solidFill>
              <a:srgbClr val="2E86C1"/>
            </a:solidFill>
            <a:ln w="31750" cap="flat">
              <a:solidFill>
                <a:srgbClr val="2E86C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6C1"/>
              </a:solidFill>
              <a:ln w="9525" cap="flat">
                <a:solidFill>
                  <a:srgbClr val="2E86C1"/>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Sheet1!$D$2:$D$6</c:f>
              <c:numCache>
                <c:formatCode>General</c:formatCode>
                <c:ptCount val="5"/>
                <c:pt idx="0">
                  <c:v>11.3</c:v>
                </c:pt>
                <c:pt idx="1">
                  <c:v>-9.4</c:v>
                </c:pt>
                <c:pt idx="2">
                  <c:v>-14.3</c:v>
                </c:pt>
                <c:pt idx="3">
                  <c:v>-15.7</c:v>
                </c:pt>
                <c:pt idx="4">
                  <c:v>-8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B5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DF"/>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5F6B5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A1A1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Total assets ($B)</a:t>
            </a:r>
          </a:p>
        </c:rich>
      </c:tx>
      <c:layout/>
      <c:overlay val="0"/>
    </c:title>
    <c:autoTitleDeleted val="0"/>
    <c:plotArea>
      <c:layout/>
      <c:lineChart>
        <c:varyColors val="0"/>
        <c:ser>
          <c:idx val="0"/>
          <c:order val="0"/>
          <c:tx>
            <c:strRef>
              <c:f>Sheet1!$B$1</c:f>
              <c:strCache>
                <c:ptCount val="1"/>
                <c:pt idx="0">
                  <c:v>NVIDIA</c:v>
                </c:pt>
              </c:strCache>
            </c:strRef>
          </c:tx>
          <c:spPr>
            <a:solidFill>
              <a:srgbClr val="76B900"/>
            </a:solidFill>
            <a:ln w="31750" cap="flat">
              <a:solidFill>
                <a:srgbClr val="76B9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6B900"/>
              </a:solidFill>
              <a:ln w="9525" cap="flat">
                <a:solidFill>
                  <a:srgbClr val="76B900"/>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Sheet1!$B$2:$B$6</c:f>
              <c:numCache>
                <c:formatCode>General</c:formatCode>
                <c:ptCount val="5"/>
                <c:pt idx="0">
                  <c:v>44.2</c:v>
                </c:pt>
                <c:pt idx="1">
                  <c:v>41.2</c:v>
                </c:pt>
                <c:pt idx="2">
                  <c:v>65.7</c:v>
                </c:pt>
                <c:pt idx="3">
                  <c:v>111.6</c:v>
                </c:pt>
                <c:pt idx="4">
                  <c:v>206.8</c:v>
                </c:pt>
              </c:numCache>
            </c:numRef>
          </c:val>
          <c:smooth val="0"/>
        </c:ser>
        <c:ser>
          <c:idx val="1"/>
          <c:order val="1"/>
          <c:tx>
            <c:strRef>
              <c:f>Sheet1!$C$1</c:f>
              <c:strCache>
                <c:ptCount val="1"/>
                <c:pt idx="0">
                  <c:v>AMD</c:v>
                </c:pt>
              </c:strCache>
            </c:strRef>
          </c:tx>
          <c:spPr>
            <a:solidFill>
              <a:srgbClr val="C0392B"/>
            </a:solidFill>
            <a:ln w="3175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Sheet1!$C$2:$C$6</c:f>
              <c:numCache>
                <c:formatCode>General</c:formatCode>
                <c:ptCount val="5"/>
                <c:pt idx="0">
                  <c:v>12.4</c:v>
                </c:pt>
                <c:pt idx="1">
                  <c:v>67.6</c:v>
                </c:pt>
                <c:pt idx="2">
                  <c:v>67.9</c:v>
                </c:pt>
                <c:pt idx="3">
                  <c:v>69.2</c:v>
                </c:pt>
                <c:pt idx="4">
                  <c:v>76.9</c:v>
                </c:pt>
              </c:numCache>
            </c:numRef>
          </c:val>
          <c:smooth val="0"/>
        </c:ser>
        <c:ser>
          <c:idx val="2"/>
          <c:order val="2"/>
          <c:tx>
            <c:strRef>
              <c:f>Sheet1!$D$1</c:f>
              <c:strCache>
                <c:ptCount val="1"/>
                <c:pt idx="0">
                  <c:v>Intel</c:v>
                </c:pt>
              </c:strCache>
            </c:strRef>
          </c:tx>
          <c:spPr>
            <a:solidFill>
              <a:srgbClr val="2E86C1"/>
            </a:solidFill>
            <a:ln w="31750" cap="flat">
              <a:solidFill>
                <a:srgbClr val="2E86C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6C1"/>
              </a:solidFill>
              <a:ln w="9525" cap="flat">
                <a:solidFill>
                  <a:srgbClr val="2E86C1"/>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Sheet1!$D$2:$D$6</c:f>
              <c:numCache>
                <c:formatCode>General</c:formatCode>
                <c:ptCount val="5"/>
                <c:pt idx="0">
                  <c:v>168.4</c:v>
                </c:pt>
                <c:pt idx="1">
                  <c:v>182.1</c:v>
                </c:pt>
                <c:pt idx="2">
                  <c:v>191.6</c:v>
                </c:pt>
                <c:pt idx="3">
                  <c:v>196.5</c:v>
                </c:pt>
                <c:pt idx="4">
                  <c:v>211.4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B5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DF"/>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5F6B5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A1A1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Shareholders' equity ($B)</a:t>
            </a:r>
          </a:p>
        </c:rich>
      </c:tx>
      <c:layout/>
      <c:overlay val="0"/>
    </c:title>
    <c:autoTitleDeleted val="0"/>
    <c:plotArea>
      <c:layout/>
      <c:lineChart>
        <c:varyColors val="0"/>
        <c:ser>
          <c:idx val="0"/>
          <c:order val="0"/>
          <c:tx>
            <c:strRef>
              <c:f>Sheet1!$B$1</c:f>
              <c:strCache>
                <c:ptCount val="1"/>
                <c:pt idx="0">
                  <c:v>NVIDIA</c:v>
                </c:pt>
              </c:strCache>
            </c:strRef>
          </c:tx>
          <c:spPr>
            <a:solidFill>
              <a:srgbClr val="76B900"/>
            </a:solidFill>
            <a:ln w="31750" cap="flat">
              <a:solidFill>
                <a:srgbClr val="76B9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6B900"/>
              </a:solidFill>
              <a:ln w="9525" cap="flat">
                <a:solidFill>
                  <a:srgbClr val="76B900"/>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Sheet1!$B$2:$B$6</c:f>
              <c:numCache>
                <c:formatCode>General</c:formatCode>
                <c:ptCount val="5"/>
                <c:pt idx="0">
                  <c:v>26.6</c:v>
                </c:pt>
                <c:pt idx="1">
                  <c:v>22.1</c:v>
                </c:pt>
                <c:pt idx="2">
                  <c:v>43</c:v>
                </c:pt>
                <c:pt idx="3">
                  <c:v>79.3</c:v>
                </c:pt>
                <c:pt idx="4">
                  <c:v>157.3</c:v>
                </c:pt>
              </c:numCache>
            </c:numRef>
          </c:val>
          <c:smooth val="0"/>
        </c:ser>
        <c:ser>
          <c:idx val="1"/>
          <c:order val="1"/>
          <c:tx>
            <c:strRef>
              <c:f>Sheet1!$C$1</c:f>
              <c:strCache>
                <c:ptCount val="1"/>
                <c:pt idx="0">
                  <c:v>AMD</c:v>
                </c:pt>
              </c:strCache>
            </c:strRef>
          </c:tx>
          <c:spPr>
            <a:solidFill>
              <a:srgbClr val="C0392B"/>
            </a:solidFill>
            <a:ln w="3175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Sheet1!$C$2:$C$6</c:f>
              <c:numCache>
                <c:formatCode>General</c:formatCode>
                <c:ptCount val="5"/>
                <c:pt idx="0">
                  <c:v>7.5</c:v>
                </c:pt>
                <c:pt idx="1">
                  <c:v>54.8</c:v>
                </c:pt>
                <c:pt idx="2">
                  <c:v>55.9</c:v>
                </c:pt>
                <c:pt idx="3">
                  <c:v>57.6</c:v>
                </c:pt>
                <c:pt idx="4">
                  <c:v>63</c:v>
                </c:pt>
              </c:numCache>
            </c:numRef>
          </c:val>
          <c:smooth val="0"/>
        </c:ser>
        <c:ser>
          <c:idx val="2"/>
          <c:order val="2"/>
          <c:tx>
            <c:strRef>
              <c:f>Sheet1!$D$1</c:f>
              <c:strCache>
                <c:ptCount val="1"/>
                <c:pt idx="0">
                  <c:v>Intel</c:v>
                </c:pt>
              </c:strCache>
            </c:strRef>
          </c:tx>
          <c:spPr>
            <a:solidFill>
              <a:srgbClr val="2E86C1"/>
            </a:solidFill>
            <a:ln w="31750" cap="flat">
              <a:solidFill>
                <a:srgbClr val="2E86C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6C1"/>
              </a:solidFill>
              <a:ln w="9525" cap="flat">
                <a:solidFill>
                  <a:srgbClr val="2E86C1"/>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Sheet1!$D$2:$D$6</c:f>
              <c:numCache>
                <c:formatCode>General</c:formatCode>
                <c:ptCount val="5"/>
                <c:pt idx="0">
                  <c:v>95.4</c:v>
                </c:pt>
                <c:pt idx="1">
                  <c:v>103.3</c:v>
                </c:pt>
                <c:pt idx="2">
                  <c:v>110</c:v>
                </c:pt>
                <c:pt idx="3">
                  <c:v>105</c:v>
                </c:pt>
                <c:pt idx="4">
                  <c:v>126.4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B5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DF"/>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5F6B5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A1A1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Debt / equity</a:t>
            </a:r>
          </a:p>
        </c:rich>
      </c:tx>
      <c:layout/>
      <c:overlay val="0"/>
    </c:title>
    <c:autoTitleDeleted val="0"/>
    <c:plotArea>
      <c:layout/>
      <c:lineChart>
        <c:varyColors val="0"/>
        <c:ser>
          <c:idx val="0"/>
          <c:order val="0"/>
          <c:tx>
            <c:strRef>
              <c:f>Sheet1!$B$1</c:f>
              <c:strCache>
                <c:ptCount val="1"/>
                <c:pt idx="0">
                  <c:v>NVIDIA</c:v>
                </c:pt>
              </c:strCache>
            </c:strRef>
          </c:tx>
          <c:spPr>
            <a:solidFill>
              <a:srgbClr val="76B900"/>
            </a:solidFill>
            <a:ln w="31750" cap="flat">
              <a:solidFill>
                <a:srgbClr val="76B9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6B900"/>
              </a:solidFill>
              <a:ln w="9525" cap="flat">
                <a:solidFill>
                  <a:srgbClr val="76B900"/>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Sheet1!$B$2:$B$6</c:f>
              <c:numCache>
                <c:formatCode>General</c:formatCode>
                <c:ptCount val="5"/>
                <c:pt idx="0">
                  <c:v>0.44</c:v>
                </c:pt>
                <c:pt idx="1">
                  <c:v>0.54</c:v>
                </c:pt>
                <c:pt idx="2">
                  <c:v>0.26</c:v>
                </c:pt>
                <c:pt idx="3">
                  <c:v>0.13</c:v>
                </c:pt>
                <c:pt idx="4">
                  <c:v>0.07</c:v>
                </c:pt>
              </c:numCache>
            </c:numRef>
          </c:val>
          <c:smooth val="0"/>
        </c:ser>
        <c:ser>
          <c:idx val="1"/>
          <c:order val="1"/>
          <c:tx>
            <c:strRef>
              <c:f>Sheet1!$C$1</c:f>
              <c:strCache>
                <c:ptCount val="1"/>
                <c:pt idx="0">
                  <c:v>AMD</c:v>
                </c:pt>
              </c:strCache>
            </c:strRef>
          </c:tx>
          <c:spPr>
            <a:solidFill>
              <a:srgbClr val="C0392B"/>
            </a:solidFill>
            <a:ln w="3175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Sheet1!$C$2:$C$6</c:f>
              <c:numCache>
                <c:formatCode>General</c:formatCode>
                <c:ptCount val="5"/>
                <c:pt idx="0">
                  <c:v>0.09</c:v>
                </c:pt>
                <c:pt idx="1">
                  <c:v>0.05</c:v>
                </c:pt>
                <c:pt idx="2">
                  <c:v>0.05</c:v>
                </c:pt>
                <c:pt idx="3">
                  <c:v>0.04</c:v>
                </c:pt>
                <c:pt idx="4">
                  <c:v>0.06</c:v>
                </c:pt>
              </c:numCache>
            </c:numRef>
          </c:val>
          <c:smooth val="0"/>
        </c:ser>
        <c:ser>
          <c:idx val="2"/>
          <c:order val="2"/>
          <c:tx>
            <c:strRef>
              <c:f>Sheet1!$D$1</c:f>
              <c:strCache>
                <c:ptCount val="1"/>
                <c:pt idx="0">
                  <c:v>Intel</c:v>
                </c:pt>
              </c:strCache>
            </c:strRef>
          </c:tx>
          <c:spPr>
            <a:solidFill>
              <a:srgbClr val="2E86C1"/>
            </a:solidFill>
            <a:ln w="31750" cap="flat">
              <a:solidFill>
                <a:srgbClr val="2E86C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6C1"/>
              </a:solidFill>
              <a:ln w="9525" cap="flat">
                <a:solidFill>
                  <a:srgbClr val="2E86C1"/>
                </a:solidFill>
                <a:prstDash val="solid"/>
                <a:round/>
              </a:ln>
              <a:effectLst/>
            </c:spPr>
          </c:marker>
          <c:cat>
            <c:multiLvlStrRef>
              <c:f>Sheet1!$A$2:$A$6</c:f>
              <c:multiLvlStrCache>
                <c:ptCount val="5"/>
                <c:lvl>
                  <c:pt idx="0">
                    <c:v>2021</c:v>
                  </c:pt>
                  <c:pt idx="1">
                    <c:v>2022</c:v>
                  </c:pt>
                  <c:pt idx="2">
                    <c:v>2023</c:v>
                  </c:pt>
                  <c:pt idx="3">
                    <c:v>2024</c:v>
                  </c:pt>
                  <c:pt idx="4">
                    <c:v>2025</c:v>
                  </c:pt>
                </c:lvl>
              </c:multiLvlStrCache>
            </c:multiLvlStrRef>
          </c:cat>
          <c:val>
            <c:numRef>
              <c:f>Sheet1!$D$2:$D$6</c:f>
              <c:numCache>
                <c:formatCode>General</c:formatCode>
                <c:ptCount val="5"/>
                <c:pt idx="0">
                  <c:v>0.4</c:v>
                </c:pt>
                <c:pt idx="1">
                  <c:v>0.41</c:v>
                </c:pt>
                <c:pt idx="2">
                  <c:v>0.45</c:v>
                </c:pt>
                <c:pt idx="3">
                  <c:v>0.48</c:v>
                </c:pt>
                <c:pt idx="4">
                  <c:v>0.37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B5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DF"/>
              </a:solidFill>
              <a:prstDash val="solid"/>
              <a:round/>
            </a:ln>
          </c:spPr>
        </c:majorGridlines>
        <c:numFmt formatCode="0.00" sourceLinked="0"/>
        <c:majorTickMark val="out"/>
        <c:minorTickMark val="none"/>
        <c:tickLblPos val="nextTo"/>
        <c:spPr>
          <a:ln w="12700" cap="flat">
            <a:noFill/>
            <a:prstDash val="solid"/>
            <a:round/>
          </a:ln>
        </c:spPr>
        <c:txPr>
          <a:bodyPr/>
          <a:lstStyle/>
          <a:p>
            <a:pPr>
              <a:defRPr sz="900" b="0" i="0" u="none" strike="noStrike">
                <a:solidFill>
                  <a:srgbClr val="5F6B5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A1A1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Introduce the group and the company: NVIDIA designs GPUs and the full AI data-center platform (chips, networking, CUDA software).
• We compare NVIDIA with its two closest competitors:
    - AMD: competes directly in GPUs and AI accelerators (Instinct MI350/MI450) and in CPUs.
    - Intel: the long-time chip leader, now competing in AI chips (Gaudi) and building a foundry business.
• Roadmap: (1) ratios vs. competitors and industry, (2) five-year financial statement trends, (3) Chapter 12 concepts, (4) articles that explain the numbers, (5) the big-picture environment (tariffs, inflation, oil, China) and the annual report, (6) our recommendation.
• All market data is as of late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 chose eight ratios from four categories, because a chip company has to be judged on price, profitability, short-term safety and debt.
• VALUATION: what investors pay.
    - P/E (trailing) = share price / last 12 months of earnings per share. NVIDIA is 27.5x, the lowest here. AMD is 142.8x, the industry median about 44.5x, and Intel has no P/E because it lost money.
    - Forward P/E uses next year's expected earnings. NVIDIA drops to 18x, so analysts expect earnings to keep growing about 50% (27.5 / 18 = 1.5).
    - Price/sales: NVIDIA (17.4) is above the industry (12.4). It looks expensive on sales, but cheap on earnings, because it keeps so much of each sales dollar as profit.
• PROFITABILITY: the most important category for a chip designer.
    - Gross margin 74.7%: NVIDIA keeps about 75 cents of every sales dollar after making its chips. This shows pricing power. AMD is 56%, Intel 39%, the industry 57%.
    - Net margin 63.7%: about 64 cents of every sales dollar is final profit. Intel is negative.
    - ROE 117%: NVIDIA earned more than its entire shareholder equity in profit over the last year. The industry average is about 7%.
• LIQUIDITY: current ratio 4.59 = current assets / current liabilities. NVIDIA has $4.59 of short-term assets for every $1 of short-term bills, the safest of the group.
• LEVERAGE: debt/equity 0.17. NVIDIA uses very little debt, roughly in line with the industry (0.15). Intel's 0.49 reflects borrowing to build factories.
• Bottom line: NVIDIA wins or ties on almost every ratio, yet has the lowest P/E.
• Note: the CSIMarket industry figures include NVIDIA itself, which pulls the industry margins up. We discuss this on the Chapter 12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slide pulls out the four numbers we want the audience to remember.
• 27.5x P/E: an investor pays $27.50 for each $1 of NVIDIA's yearly profit, versus $142.80 for AMD. Normally the best company in a sector trades at the highest P/E. NVIDIA is the opposite.
• 74.7% gross margin: NVIDIA can charge premium prices because its chips plus CUDA software are hard to replace. Customers have built years of AI code on CUDA.
• 117% ROE: for every $1 shareholders have invested in the business, NVIDIA earned about $1.17 in the last year.
• 4.59 current ratio and 0.17 debt/equity: NVIDIA could pay all its short-term bills more than four times over and barely relies on borrowing.
• Why is the P/E so low if the company is this good? Two reasons:
    - Earnings grew so fast that the price has not kept up (the 'E' in P/E is huge).
    - Investors worry the margins can't last because of competition, custom chips by big customers, and China restrictions. These are the risks we cover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 chose four items that matter most for a chip company: revenue (demand), net income (profitability), R&amp;D (the innovation race), and free cash flow (cash left after building factories and equipment).
• Timing note: NVIDIA's fiscal year ends in late January, so its 'FY2026' is basically calendar 2025. We lined the years up that way.
• REVENUE:
    - NVIDIA grew from $26.9B to $215.9B, about 8x in four years. The jump starts in 2023 when ChatGPT set off the AI data-center boom.
    - AMD roughly doubled ($16.4B to $34.6B), helped by data-center CPUs and AI GPUs.
    - Intel shrank by a third ($79.0B to $52.9B) as it lost PC and server share.
• NET INCOME:
    - NVIDIA: $9.8B to $120.1B, about 12x. Profit grew faster than revenue because the extra sales came at very high margins.
    - Intel went from $19.9B profit to an $18.8B loss in 2024 (write-downs and restructuring), then about breakeven in 2025.
• R&amp;D:
    - NVIDIA tripled R&amp;D to $18.5B and now outspends Intel ($13.8B), which is cutting costs. AMD is at $8.1B.
    - As a share of revenue NVIDIA spends only about 9% (vs. AMD 23%, Intel 26%) because its revenue is so large.
• FREE CASH FLOW:
    - NVIDIA: $96.7B in 2025, about 45 cents of free cash per $1 of sales. It does not own factories (TSMC makes its chips), so capex is low.
    - Intel has had negative free cash flow four years in a row because it is spending $18-26B a year building fabs.
• Overall pattern: NVIDIA is pulling away on every line; AMD is growing steadily from a smaller base; Intel is shrinking and burning cash.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Two more financial statement items from the balance sheet: total assets and shareholders' equity, plus the debt/equity ratio they produce.
• TOTAL ASSETS:
    - NVIDIA grew from $44B to $207B, almost 5x, and is about to pass Intel ($211B). By July 2026 NVIDIA's assets reached about $320B.
    - AMD's big jump in 2022 came from buying Xilinx (paid mostly in stock), not from organic growth.
    - Intel's assets grew because it is building factories, but those assets are not yet earning a return.
• SHAREHOLDERS' EQUITY:
    - NVIDIA's equity grew about 6x ($26.6B to $157.3B), mostly from profits kept in the business. It now has the most equity of the three.
• DEBT / EQUITY:
    - NVIDIA fell from 0.54 to 0.07. It didn't pay off much debt; equity simply grew far faster than debt.
    - AMD stays very low (around 0.05). Intel sits around 0.4 because it borrows to fund fabs.
• Meaning: NVIDIA's growth is self-funded. It does not need to borrow, which lowers risk if interest rates keep rising.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Check that these terms match the names used in our Chapter 12; adjust wording if the textbook calls them something different.
• CONCEPT 1: TREND ANALYSIS vs. CROSS-SECTIONAL (PEER) ANALYSIS
    - Trend analysis compares a company with its own past. Our five-year charts show NVIDIA improving every year.
    - Cross-sectional analysis compares it with competitors and the industry at the same time. Our ratio table does this.
    - You need both: a company can improve but still trail peers, or lead peers but be getting worse. NVIDIA passes both tests.
• CONCEPT 2: DUPONT ANALYSIS (ROE = net margin x asset turnover x equity multiplier)
    - It breaks ROE into three drivers: how profitable each sale is, how efficiently assets create sales, and how much debt is used.
    - NVIDIA's 76% ROE (full fiscal year) comes from a 55.6% net margin and $1.04 of sales per $1 of assets. Its equity multiplier (1.31) is low, so its ROE is not boosted by debt.
    - Intel actually uses the most leverage (1.67) but still has a negative ROE because its margin and asset turnover are so weak.
    - The 76% here is lower than the 117% in the ratio table because the table uses the most recent 12 months and average equity. That shows how the time period changes a ratio.
• CONCEPT 3: LIMITATIONS OF RATIO ANALYSIS
    - Averages can be skewed: AMD's 143x P/E pulls the industry average P/E (56.7) above the median (44.5), so the median is the better benchmark.
    - The CSIMarket industry margins include NVIDIA. Because NVIDIA is so large, it pulls the 'industry' up and makes the comparison look closer than it really is.
    - Different fiscal years: NVIDIA's year ends in January, AMD and Intel's in December, so the comparison is about one month off.
    - One-time items: Intel's 2024 loss includes large non-cash write-downs, so one year's ratio can exaggerate the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These articles explain why our numbers look the way they do.
• WHY NVIDIA IS DOING BETTER:
    - It sells the complete AI system (GPUs, networking, and CUDA software), and developers have built years of AI code on CUDA. That 'moat' is why it can charge prices that give 75% gross margins.
    - The Motley Fool article argues the stock is actually cheap relative to its earnings. That matches our ratio table (lowest P/E).
• THE COUNTER-ARGUMENT (Rallies.ai):
    - Big customers like Google, Amazon and Meta are designing their own AI chips (ASICs), and AMD's software is catching up. If NVIDIA has to cut prices, margins and earnings would fall. This helps explain why the P/E is low: investors are not fully trusting today's margins.
• WHY AMD IS BEHIND BUT GROWING:
    - AMD's AI chips are only now winning very large customers (OpenAI and Meta MI450 deals starting in 2026). Its revenue doubled, but profits are still small, so its P/E (143x) shows investors are paying for growth that hasn't arrived yet.
• WHY INTEL IS DOING WORSE:
    - Intel missed the start of the AI chip boom, lost share to AMD in CPUs, and is spending heavily to build a foundry (chip-making for other companies) that lost about $10B in 2025.
    - That explains Intel's falling revenue, losses and negative free cash flow in our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These are the general factors affecting how well NVIDIA is doing.
• TARIFFS:
    - In January 2026 the US put a 25% tariff on a narrow group of advanced chips, including NVIDIA's H200 and AMD's MI325X (Axios, White &amp; Case).
    - It mostly hits chips that pass through the US on their way to China. Chips used in US data centers, R&amp;D and startups are exempt, so the direct hit to NVIDIA is small.
    - Risk: the White House has said broader semiconductor tariffs could follow.
• CHINA EXPORT CONTROLS:
    - The US limits sales of top AI chips to China. In 2025 NVIDIA took a large charge when H20 sales to China were blocked.
    - Now H200 sales need a license plus the 25% tariff, and NVIDIA's 10-Q says it can't currently design a China product both governments will approve.
    - NVIDIA's latest guidance assumes zero China data-center revenue, so any China sales would be upside.
• INFLATION AND INTEREST RATES:
    - A hot inflation report on Oct 14, 2026 pushed up odds of a Fed rate hike, and AI chip stocks sold off (CNN).
    - Why it matters: higher rates make future profits worth less today, so high-growth stocks fall the most. NVIDIA's actual sales have not slowed, so this hits the stock price, not the business.
    - 24/7 Wall St. notes the Fed now lists AI spending next to tariffs and oil as an inflation driver, and that big tech funds AI spending from cash, so rate hikes may not slow demand much.
• OIL PRICES:
    - Oil jumped in October 2026 on US-Iran tensions. NVIDIA doesn't use much oil directly, but higher oil feeds inflation, which keeps rates high and pressures tech stock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 reviewed NVIDIA's annual report (Form 10-K for the fiscal year ended Jan 25, 2026) and its most recent quarter.
• ANNUAL REPORT:
    - Revenue $215.9B, up 65%. Net income $120.1B. R&amp;D $18.5B, up 43%, mainly for engineers and computing infrastructure.
    - In the risk factors NVIDIA highlights US export controls on China, its dependence on outside manufacturers (mainly TSMC) and growing purchase and supply commitments.
• LATEST QUARTER (Q2 fiscal 2027, reported Aug 26, 2026):
    - Revenue $96.2B, more than double a year ago. Data center (AI) is $89.0B, about 93% of sales.
    - Gross margin is still 75%, so competition has not hurt pricing yet.
    - Guidance for next quarter is $108B, and it assumes zero China data-center sales.
    - Management says the new Vera Rubin platform is in full production and that growth is limited by supply, not demand.
• From the 10-Q: inventory rose sharply to secure supply, NVIDIA issued about $25B of notes, holds about $94B of equity stakes, and bought back $39.8B of stock in six months.
• Takeaway: the newest data confirms the five-year trend is still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Our recommendation is to BUY NVIDIA as a long-term holding.
• WHY:
    - Ratios: it has the best profitability in the group (75% gross margin, 117% ROE) but the lowest P/E (27.5x; 18x forward). We are not overpaying for quality.
    - Trends: revenue grew about 8x and net income about 12x in five years, while AMD roughly doubled and Intel shrank.
    - Cash and safety: $96.7B of free cash flow, a 4.59 current ratio and only 0.17 debt/equity. It can fund growth itself and survive a downturn.
    - The latest quarter (+106% revenue, $108B guidance) shows the trend is not over, and guidance doesn't count on China.
• RISKS, and why they don't change our call:
    - Interest rates and inflation (and high oil prices feeding inflation) can push the stock price down in the short term, but they have not slowed demand for NVIDIA's chips.
    - Competition from custom chips and AMD could lower margins. Even if gross margin fell to 65%, NVIDIA would still be far more profitable than its peers.
    - China and tariffs are already excluded from guidance, so they are mostly priced in.
    - Inventory and supply commitments are a bet on continued demand. This is the biggest risk if AI spending slows.
• HOW TO ACT: buy for the long term and expect big price swings. Don't put too much of a portfolio in one stock.
• WHAT WOULD MAKE US SWITCH TO SELL: gross margin falling well below 70%, data-center revenue growth stalling, or inventory growing much faster than sales.
• Compared with peers: AMD is a riskier growth bet at 143x earnings, and Intel is a turnaround that is still losing money. NVIDIA offers the best mix of growth, profitability and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Financial data comes from the companies' SEC filings (10-K and 10-Q), as summarized on stockanalysis.com, plus Benzinga and CSIMarket for industry averages.
• News and analysis come from the Motley Fool, Rallies.ai, Yahoo Finance, 24/7 Wall St., SiliconANGLE, Axios, CNBC and CNN.
•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1111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606040"/>
            <a:ext cx="8046720" cy="1280160"/>
          </a:xfrm>
          <a:prstGeom prst="rect">
            <a:avLst/>
          </a:prstGeom>
          <a:noFill/>
          <a:ln/>
        </p:spPr>
        <p:txBody>
          <a:bodyPr wrap="square" rtlCol="0"/>
          <a:lstStyle>
            <a:lvl1pPr indent="0" marL="0">
              <a:buNone/>
              <a:defRPr lang="en-US" sz="1800" dirty="0">
                <a:solidFill>
                  <a:srgbClr val="C8D0C4"/>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rtlCol="0"/>
          <a:lstStyle>
            <a:lvl1pPr indent="0" marL="0">
              <a:buNone/>
              <a:defRPr lang="en-US" sz="2800" b="1" dirty="0">
                <a:solidFill>
                  <a:schemeClr val="tx1"/>
                </a:solidFill>
              </a:defRPr>
            </a:lvl1pPr>
          </a:lstStyle>
          <a:p>
            <a:pPr indent="0" marL="0">
              <a:buNone/>
            </a:pPr>
            <a:endParaRPr lang="en-US" sz="2800" dirty="0"/>
          </a:p>
        </p:txBody>
      </p:sp>
      <p:sp>
        <p:nvSpPr>
          <p:cNvPr id="3" name="Text 0"/>
          <p:cNvSpPr/>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5F6B5A"/>
                </a:solidFill>
              </a:rPr>
              <a:t>NVIDIA vs. AMD and Intel</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5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5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97280"/>
          </a:xfrm>
          <a:prstGeom prst="rect">
            <a:avLst/>
          </a:prstGeom>
          <a:noFill/>
          <a:ln/>
        </p:spPr>
        <p:txBody>
          <a:bodyPr wrap="square" lIns="0" tIns="0" rIns="0" bIns="0" rtlCol="0" anchor="b"/>
          <a:lstStyle/>
          <a:p>
            <a:pPr algn="l" indent="0" marL="0">
              <a:buNone/>
            </a:pPr>
            <a:r>
              <a:rPr lang="en-US" sz="4400" b="1" dirty="0">
                <a:solidFill>
                  <a:schemeClr val="bg1"/>
                </a:solidFill>
              </a:rPr>
              <a:t>NVIDIA (NVDA)</a:t>
            </a:r>
            <a:endParaRPr lang="en-US" sz="4400" dirty="0"/>
          </a:p>
        </p:txBody>
      </p:sp>
      <p:sp>
        <p:nvSpPr>
          <p:cNvPr id="3" name="Text 0"/>
          <p:cNvSpPr/>
          <p:nvPr>
            <p:ph idx="101" type="body" hasCustomPrompt="1"/>
          </p:nvPr>
        </p:nvSpPr>
        <p:spPr>
          <a:xfrm>
            <a:off x="548640" y="2606040"/>
            <a:ext cx="8046720" cy="1280160"/>
          </a:xfrm>
          <a:prstGeom prst="rect">
            <a:avLst/>
          </a:prstGeom>
          <a:noFill/>
          <a:ln/>
        </p:spPr>
        <p:txBody>
          <a:bodyPr wrap="square" lIns="0" tIns="0" rIns="0" bIns="0" rtlCol="0" anchor="t"/>
          <a:lstStyle/>
          <a:p>
            <a:pPr indent="0" marL="0">
              <a:buNone/>
            </a:pPr>
            <a:r>
              <a:rPr lang="en-US" sz="1800" dirty="0">
                <a:solidFill>
                  <a:srgbClr val="C8D0C4"/>
                </a:solidFill>
              </a:rPr>
              <a:t>Financial ratios, five-year trends and a buy/sell recommendation</a:t>
            </a:r>
            <a:endParaRPr lang="en-US" sz="1800" dirty="0"/>
          </a:p>
          <a:p>
            <a:pPr indent="0" marL="0">
              <a:buNone/>
            </a:pPr>
            <a:r>
              <a:rPr lang="en-US" sz="1400" dirty="0">
                <a:solidFill>
                  <a:srgbClr val="76B900"/>
                </a:solidFill>
              </a:rPr>
              <a:t>Compared with AMD and Intel  |  Group project  |  Data as of Oct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800" b="1" dirty="0">
                <a:solidFill>
                  <a:schemeClr val="tx1"/>
                </a:solidFill>
              </a:rPr>
              <a:t>Ratios: NVIDIA vs. AMD, Intel and the industry</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234440"/>
                <a:gridCol w="1600200"/>
                <a:gridCol w="1097280"/>
                <a:gridCol w="1097280"/>
                <a:gridCol w="1097280"/>
                <a:gridCol w="2103120"/>
              </a:tblGrid>
              <a:tr h="3474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Ratio</a:t>
                      </a:r>
                      <a:endParaRPr lang="en-US" sz="11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NVIDIA</a:t>
                      </a:r>
                      <a:endParaRPr lang="en-US" sz="11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solidFill>
                      <a:srgbClr val="4E7A0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AMD</a:t>
                      </a:r>
                      <a:endParaRPr lang="en-US" sz="11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Intel</a:t>
                      </a:r>
                      <a:endParaRPr lang="en-US" sz="11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Industry</a:t>
                      </a:r>
                      <a:endParaRPr lang="en-US" sz="11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solidFill>
                      <a:srgbClr val="1A1A1A"/>
                    </a:solidFill>
                  </a:tcPr>
                </a:tc>
              </a:tr>
              <a:tr h="347472">
                <a:tc>
                  <a:txBody>
                    <a:bodyPr/>
                    <a:lstStyle/>
                    <a:p>
                      <a:pPr algn="l" indent="0" marL="0">
                        <a:buNone/>
                      </a:pPr>
                      <a:r>
                        <a:rPr lang="en-US" sz="1000" dirty="0">
                          <a:solidFill>
                            <a:srgbClr val="5F6B5A"/>
                          </a:solidFill>
                          <a:latin typeface="Calibri" pitchFamily="34" charset="0"/>
                          <a:ea typeface="Calibri" pitchFamily="34" charset="-122"/>
                          <a:cs typeface="Calibri" pitchFamily="34" charset="-120"/>
                        </a:rPr>
                        <a:t>Valuation</a:t>
                      </a:r>
                      <a:endParaRPr lang="en-US" sz="10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P/E (trailing)</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b="1" dirty="0">
                          <a:solidFill>
                            <a:srgbClr val="1A1A1A"/>
                          </a:solidFill>
                          <a:latin typeface="Calibri" pitchFamily="34" charset="0"/>
                          <a:ea typeface="Calibri" pitchFamily="34" charset="-122"/>
                          <a:cs typeface="Calibri" pitchFamily="34" charset="-120"/>
                        </a:rPr>
                        <a:t>27.5</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solidFill>
                      <a:srgbClr val="EEF6E0"/>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142.8</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n/a (loss)</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44.5 median / 56.7 avg</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r>
              <a:tr h="347472">
                <a:tc>
                  <a:txBody>
                    <a:bodyPr/>
                    <a:lstStyle/>
                    <a:p>
                      <a:pPr algn="l" indent="0" marL="0">
                        <a:buNone/>
                      </a:pPr>
                      <a:r>
                        <a:rPr lang="en-US" sz="1000" dirty="0">
                          <a:solidFill>
                            <a:srgbClr val="5F6B5A"/>
                          </a:solidFill>
                          <a:latin typeface="Calibri" pitchFamily="34" charset="0"/>
                          <a:ea typeface="Calibri" pitchFamily="34" charset="-122"/>
                          <a:cs typeface="Calibri" pitchFamily="34" charset="-120"/>
                        </a:rPr>
                        <a:t>Valuation</a:t>
                      </a:r>
                      <a:endParaRPr lang="en-US" sz="10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P/E (forward)</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b="1" dirty="0">
                          <a:solidFill>
                            <a:srgbClr val="1A1A1A"/>
                          </a:solidFill>
                          <a:latin typeface="Calibri" pitchFamily="34" charset="0"/>
                          <a:ea typeface="Calibri" pitchFamily="34" charset="-122"/>
                          <a:cs typeface="Calibri" pitchFamily="34" charset="-120"/>
                        </a:rPr>
                        <a:t>18.0</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solidFill>
                      <a:srgbClr val="EEF6E0"/>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50.1</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53.4</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r>
              <a:tr h="347472">
                <a:tc>
                  <a:txBody>
                    <a:bodyPr/>
                    <a:lstStyle/>
                    <a:p>
                      <a:pPr algn="l" indent="0" marL="0">
                        <a:buNone/>
                      </a:pPr>
                      <a:r>
                        <a:rPr lang="en-US" sz="1000" dirty="0">
                          <a:solidFill>
                            <a:srgbClr val="5F6B5A"/>
                          </a:solidFill>
                          <a:latin typeface="Calibri" pitchFamily="34" charset="0"/>
                          <a:ea typeface="Calibri" pitchFamily="34" charset="-122"/>
                          <a:cs typeface="Calibri" pitchFamily="34" charset="-120"/>
                        </a:rPr>
                        <a:t>Valuation</a:t>
                      </a:r>
                      <a:endParaRPr lang="en-US" sz="10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Price / Sales</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b="1" dirty="0">
                          <a:solidFill>
                            <a:srgbClr val="1A1A1A"/>
                          </a:solidFill>
                          <a:latin typeface="Calibri" pitchFamily="34" charset="0"/>
                          <a:ea typeface="Calibri" pitchFamily="34" charset="-122"/>
                          <a:cs typeface="Calibri" pitchFamily="34" charset="-120"/>
                        </a:rPr>
                        <a:t>17.4</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solidFill>
                      <a:srgbClr val="EEF6E0"/>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21.0</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8.3</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12.4</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r>
              <a:tr h="347472">
                <a:tc>
                  <a:txBody>
                    <a:bodyPr/>
                    <a:lstStyle/>
                    <a:p>
                      <a:pPr algn="l" indent="0" marL="0">
                        <a:buNone/>
                      </a:pPr>
                      <a:r>
                        <a:rPr lang="en-US" sz="1000" dirty="0">
                          <a:solidFill>
                            <a:srgbClr val="5F6B5A"/>
                          </a:solidFill>
                          <a:latin typeface="Calibri" pitchFamily="34" charset="0"/>
                          <a:ea typeface="Calibri" pitchFamily="34" charset="-122"/>
                          <a:cs typeface="Calibri" pitchFamily="34" charset="-120"/>
                        </a:rPr>
                        <a:t>Profitability</a:t>
                      </a:r>
                      <a:endParaRPr lang="en-US" sz="10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Gross margin</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b="1" dirty="0">
                          <a:solidFill>
                            <a:srgbClr val="1A1A1A"/>
                          </a:solidFill>
                          <a:latin typeface="Calibri" pitchFamily="34" charset="0"/>
                          <a:ea typeface="Calibri" pitchFamily="34" charset="-122"/>
                          <a:cs typeface="Calibri" pitchFamily="34" charset="-120"/>
                        </a:rPr>
                        <a:t>74.7%</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solidFill>
                      <a:srgbClr val="EEF6E0"/>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55.7%</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38.9%</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57.4%</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r>
              <a:tr h="347472">
                <a:tc>
                  <a:txBody>
                    <a:bodyPr/>
                    <a:lstStyle/>
                    <a:p>
                      <a:pPr algn="l" indent="0" marL="0">
                        <a:buNone/>
                      </a:pPr>
                      <a:r>
                        <a:rPr lang="en-US" sz="1000" dirty="0">
                          <a:solidFill>
                            <a:srgbClr val="5F6B5A"/>
                          </a:solidFill>
                          <a:latin typeface="Calibri" pitchFamily="34" charset="0"/>
                          <a:ea typeface="Calibri" pitchFamily="34" charset="-122"/>
                          <a:cs typeface="Calibri" pitchFamily="34" charset="-120"/>
                        </a:rPr>
                        <a:t>Profitability</a:t>
                      </a:r>
                      <a:endParaRPr lang="en-US" sz="10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Net margin</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b="1" dirty="0">
                          <a:solidFill>
                            <a:srgbClr val="1A1A1A"/>
                          </a:solidFill>
                          <a:latin typeface="Calibri" pitchFamily="34" charset="0"/>
                          <a:ea typeface="Calibri" pitchFamily="34" charset="-122"/>
                          <a:cs typeface="Calibri" pitchFamily="34" charset="-120"/>
                        </a:rPr>
                        <a:t>63.7%</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solidFill>
                      <a:srgbClr val="EEF6E0"/>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15.6%</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-19.8%</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37.7%</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r>
              <a:tr h="347472">
                <a:tc>
                  <a:txBody>
                    <a:bodyPr/>
                    <a:lstStyle/>
                    <a:p>
                      <a:pPr algn="l" indent="0" marL="0">
                        <a:buNone/>
                      </a:pPr>
                      <a:r>
                        <a:rPr lang="en-US" sz="1000" dirty="0">
                          <a:solidFill>
                            <a:srgbClr val="5F6B5A"/>
                          </a:solidFill>
                          <a:latin typeface="Calibri" pitchFamily="34" charset="0"/>
                          <a:ea typeface="Calibri" pitchFamily="34" charset="-122"/>
                          <a:cs typeface="Calibri" pitchFamily="34" charset="-120"/>
                        </a:rPr>
                        <a:t>Profitability</a:t>
                      </a:r>
                      <a:endParaRPr lang="en-US" sz="10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Return on equity</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b="1" dirty="0">
                          <a:solidFill>
                            <a:srgbClr val="1A1A1A"/>
                          </a:solidFill>
                          <a:latin typeface="Calibri" pitchFamily="34" charset="0"/>
                          <a:ea typeface="Calibri" pitchFamily="34" charset="-122"/>
                          <a:cs typeface="Calibri" pitchFamily="34" charset="-120"/>
                        </a:rPr>
                        <a:t>117%</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solidFill>
                      <a:srgbClr val="EEF6E0"/>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10.2%</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-10.7%</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r>
              <a:tr h="347472">
                <a:tc>
                  <a:txBody>
                    <a:bodyPr/>
                    <a:lstStyle/>
                    <a:p>
                      <a:pPr algn="l" indent="0" marL="0">
                        <a:buNone/>
                      </a:pPr>
                      <a:r>
                        <a:rPr lang="en-US" sz="1000" dirty="0">
                          <a:solidFill>
                            <a:srgbClr val="5F6B5A"/>
                          </a:solidFill>
                          <a:latin typeface="Calibri" pitchFamily="34" charset="0"/>
                          <a:ea typeface="Calibri" pitchFamily="34" charset="-122"/>
                          <a:cs typeface="Calibri" pitchFamily="34" charset="-120"/>
                        </a:rPr>
                        <a:t>Liquidity</a:t>
                      </a:r>
                      <a:endParaRPr lang="en-US" sz="10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Current ratio</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b="1" dirty="0">
                          <a:solidFill>
                            <a:srgbClr val="1A1A1A"/>
                          </a:solidFill>
                          <a:latin typeface="Calibri" pitchFamily="34" charset="0"/>
                          <a:ea typeface="Calibri" pitchFamily="34" charset="-122"/>
                          <a:cs typeface="Calibri" pitchFamily="34" charset="-120"/>
                        </a:rPr>
                        <a:t>4.59</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solidFill>
                      <a:srgbClr val="EEF6E0"/>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2.61</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1.60</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r>
              <a:tr h="347472">
                <a:tc>
                  <a:txBody>
                    <a:bodyPr/>
                    <a:lstStyle/>
                    <a:p>
                      <a:pPr algn="l" indent="0" marL="0">
                        <a:buNone/>
                      </a:pPr>
                      <a:r>
                        <a:rPr lang="en-US" sz="1000" dirty="0">
                          <a:solidFill>
                            <a:srgbClr val="5F6B5A"/>
                          </a:solidFill>
                          <a:latin typeface="Calibri" pitchFamily="34" charset="0"/>
                          <a:ea typeface="Calibri" pitchFamily="34" charset="-122"/>
                          <a:cs typeface="Calibri" pitchFamily="34" charset="-120"/>
                        </a:rPr>
                        <a:t>Leverage</a:t>
                      </a:r>
                      <a:endParaRPr lang="en-US" sz="10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Debt / equity</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b="1" dirty="0">
                          <a:solidFill>
                            <a:srgbClr val="1A1A1A"/>
                          </a:solidFill>
                          <a:latin typeface="Calibri" pitchFamily="34" charset="0"/>
                          <a:ea typeface="Calibri" pitchFamily="34" charset="-122"/>
                          <a:cs typeface="Calibri" pitchFamily="34" charset="-120"/>
                        </a:rPr>
                        <a:t>0.17</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solidFill>
                      <a:srgbClr val="EEF6E0"/>
                    </a:solidFill>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0.06</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0.49</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0.15</a:t>
                      </a:r>
                      <a:endParaRPr lang="en-US" sz="1200" dirty="0">
                        <a:latin typeface="Calibri" charset="0"/>
                        <a:ea typeface="Calibri" charset="0"/>
                        <a:cs typeface="Calibri" charset="0"/>
                      </a:endParaRPr>
                    </a:p>
                  </a:txBody>
                  <a:tcPr marL="73152" marR="73152" marT="27432" marB="27432" anchor="ctr">
                    <a:lnL w="9525" cap="flat" cmpd="sng" algn="ctr">
                      <a:solidFill>
                        <a:srgbClr val="E3E7DF"/>
                      </a:solidFill>
                      <a:prstDash val="solid"/>
                      <a:round/>
                      <a:headEnd type="none" w="med" len="med"/>
                      <a:tailEnd type="none" w="med" len="med"/>
                    </a:lnL>
                    <a:lnR w="9525" cap="flat" cmpd="sng" algn="ctr">
                      <a:solidFill>
                        <a:srgbClr val="E3E7DF"/>
                      </a:solidFill>
                      <a:prstDash val="solid"/>
                      <a:round/>
                      <a:headEnd type="none" w="med" len="med"/>
                      <a:tailEnd type="none" w="med" len="med"/>
                    </a:lnR>
                    <a:lnT w="9525" cap="flat" cmpd="sng" algn="ctr">
                      <a:solidFill>
                        <a:srgbClr val="E3E7DF"/>
                      </a:solidFill>
                      <a:prstDash val="solid"/>
                      <a:round/>
                      <a:headEnd type="none" w="med" len="med"/>
                      <a:tailEnd type="none" w="med" len="med"/>
                    </a:lnT>
                    <a:lnB w="9525" cap="flat" cmpd="sng" algn="ctr">
                      <a:solidFill>
                        <a:srgbClr val="E3E7DF"/>
                      </a:solidFill>
                      <a:prstDash val="solid"/>
                      <a:round/>
                      <a:headEnd type="none" w="med" len="med"/>
                      <a:tailEnd type="none" w="med" len="med"/>
                    </a:lnB>
                  </a:tcPr>
                </a:tc>
              </a:tr>
            </a:tbl>
          </a:graphicData>
        </a:graphic>
      </p:graphicFrame>
      <p:sp>
        <p:nvSpPr>
          <p:cNvPr id="4" name="Text 1"/>
          <p:cNvSpPr txBox="1"/>
          <p:nvPr/>
        </p:nvSpPr>
        <p:spPr>
          <a:xfrm>
            <a:off x="457200" y="4498848"/>
            <a:ext cx="8229600" cy="292608"/>
          </a:xfrm>
          <a:prstGeom prst="rect">
            <a:avLst/>
          </a:prstGeom>
          <a:noFill/>
          <a:ln/>
        </p:spPr>
        <p:txBody>
          <a:bodyPr wrap="square" lIns="0" tIns="0" rIns="0" bIns="0" rtlCol="0" anchor="t"/>
          <a:lstStyle/>
          <a:p>
            <a:pPr indent="0" marL="0">
              <a:buNone/>
            </a:pPr>
            <a:r>
              <a:rPr lang="en-US" sz="900" dirty="0">
                <a:solidFill>
                  <a:srgbClr val="5F6B5A"/>
                </a:solidFill>
              </a:rPr>
              <a:t>Company ratios: stockanalysis.com (Oct 27, 2026). Industry: Benzinga semiconductor peer table, Sep 18, 2026 (P/E, P/S, ROE; excludes NVDA); CSIMarket semiconductor industry, Q2 2026 TTM (margins, D/E; includes NVDA). n/a = not found.</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5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800" b="1" dirty="0">
                <a:solidFill>
                  <a:schemeClr val="tx1"/>
                </a:solidFill>
              </a:rPr>
              <a:t>What the ratios tell us</a:t>
            </a:r>
            <a:endParaRPr lang="en-US" sz="2800" dirty="0"/>
          </a:p>
        </p:txBody>
      </p:sp>
      <p:sp>
        <p:nvSpPr>
          <p:cNvPr id="3" name="stat0"/>
          <p:cNvSpPr/>
          <p:nvPr/>
        </p:nvSpPr>
        <p:spPr>
          <a:xfrm>
            <a:off x="457200" y="1051560"/>
            <a:ext cx="1920240" cy="2331720"/>
          </a:xfrm>
          <a:prstGeom prst="roundRect">
            <a:avLst>
              <a:gd name="adj" fmla="val 3810"/>
            </a:avLst>
          </a:prstGeom>
          <a:solidFill>
            <a:srgbClr val="F2F4EF"/>
          </a:solidFill>
          <a:ln w="12700">
            <a:solidFill>
              <a:srgbClr val="F2F4EF"/>
            </a:solidFill>
            <a:prstDash val="solid"/>
          </a:ln>
        </p:spPr>
      </p:sp>
      <p:sp>
        <p:nvSpPr>
          <p:cNvPr id="4" name="Text 2"/>
          <p:cNvSpPr txBox="1"/>
          <p:nvPr/>
        </p:nvSpPr>
        <p:spPr>
          <a:xfrm>
            <a:off x="594360" y="1188720"/>
            <a:ext cx="1645920" cy="777240"/>
          </a:xfrm>
          <a:prstGeom prst="rect">
            <a:avLst/>
          </a:prstGeom>
          <a:noFill/>
          <a:ln/>
        </p:spPr>
        <p:txBody>
          <a:bodyPr wrap="square" lIns="0" tIns="0" rIns="0" bIns="0" rtlCol="0" anchor="ctr"/>
          <a:lstStyle/>
          <a:p>
            <a:pPr indent="0" marL="0">
              <a:buNone/>
            </a:pPr>
            <a:r>
              <a:rPr lang="en-US" sz="3600" b="1" dirty="0">
                <a:solidFill>
                  <a:srgbClr val="76B900"/>
                </a:solidFill>
              </a:rPr>
              <a:t>27.5x</a:t>
            </a:r>
            <a:endParaRPr lang="en-US" sz="3600" dirty="0"/>
          </a:p>
        </p:txBody>
      </p:sp>
      <p:sp>
        <p:nvSpPr>
          <p:cNvPr id="5" name="Text 3"/>
          <p:cNvSpPr txBox="1"/>
          <p:nvPr/>
        </p:nvSpPr>
        <p:spPr>
          <a:xfrm>
            <a:off x="594360" y="1965960"/>
            <a:ext cx="1645920" cy="320040"/>
          </a:xfrm>
          <a:prstGeom prst="rect">
            <a:avLst/>
          </a:prstGeom>
          <a:noFill/>
          <a:ln/>
        </p:spPr>
        <p:txBody>
          <a:bodyPr wrap="square" lIns="0" tIns="0" rIns="0" bIns="0" rtlCol="0" anchor="ctr"/>
          <a:lstStyle/>
          <a:p>
            <a:pPr indent="0" marL="0">
              <a:buNone/>
            </a:pPr>
            <a:r>
              <a:rPr lang="en-US" sz="1400" b="1" dirty="0">
                <a:solidFill>
                  <a:srgbClr val="1A1A1A"/>
                </a:solidFill>
              </a:rPr>
              <a:t>Trailing P/E</a:t>
            </a:r>
            <a:endParaRPr lang="en-US" sz="1400" dirty="0"/>
          </a:p>
        </p:txBody>
      </p:sp>
      <p:sp>
        <p:nvSpPr>
          <p:cNvPr id="6" name="Text 4"/>
          <p:cNvSpPr txBox="1"/>
          <p:nvPr/>
        </p:nvSpPr>
        <p:spPr>
          <a:xfrm>
            <a:off x="594360" y="2331720"/>
            <a:ext cx="1645920" cy="960120"/>
          </a:xfrm>
          <a:prstGeom prst="rect">
            <a:avLst/>
          </a:prstGeom>
          <a:noFill/>
          <a:ln/>
        </p:spPr>
        <p:txBody>
          <a:bodyPr wrap="square" lIns="0" tIns="0" rIns="0" bIns="0" rtlCol="0" anchor="t"/>
          <a:lstStyle/>
          <a:p>
            <a:pPr indent="0" marL="0">
              <a:buNone/>
            </a:pPr>
            <a:r>
              <a:rPr lang="en-US" sz="1200" dirty="0">
                <a:solidFill>
                  <a:srgbClr val="5F6B5A"/>
                </a:solidFill>
              </a:rPr>
              <a:t>Lowest of the group. AMD is 142.8x and the industry median is 44.5x</a:t>
            </a:r>
            <a:endParaRPr lang="en-US" sz="1200" dirty="0"/>
          </a:p>
        </p:txBody>
      </p:sp>
      <p:sp>
        <p:nvSpPr>
          <p:cNvPr id="7" name="stat1"/>
          <p:cNvSpPr/>
          <p:nvPr/>
        </p:nvSpPr>
        <p:spPr>
          <a:xfrm>
            <a:off x="2560320" y="1051560"/>
            <a:ext cx="1920240" cy="2331720"/>
          </a:xfrm>
          <a:prstGeom prst="roundRect">
            <a:avLst>
              <a:gd name="adj" fmla="val 3810"/>
            </a:avLst>
          </a:prstGeom>
          <a:solidFill>
            <a:srgbClr val="F2F4EF"/>
          </a:solidFill>
          <a:ln w="12700">
            <a:solidFill>
              <a:srgbClr val="F2F4EF"/>
            </a:solidFill>
            <a:prstDash val="solid"/>
          </a:ln>
        </p:spPr>
      </p:sp>
      <p:sp>
        <p:nvSpPr>
          <p:cNvPr id="8" name="Text 6"/>
          <p:cNvSpPr txBox="1"/>
          <p:nvPr/>
        </p:nvSpPr>
        <p:spPr>
          <a:xfrm>
            <a:off x="2697480" y="1188720"/>
            <a:ext cx="1645920" cy="777240"/>
          </a:xfrm>
          <a:prstGeom prst="rect">
            <a:avLst/>
          </a:prstGeom>
          <a:noFill/>
          <a:ln/>
        </p:spPr>
        <p:txBody>
          <a:bodyPr wrap="square" lIns="0" tIns="0" rIns="0" bIns="0" rtlCol="0" anchor="ctr"/>
          <a:lstStyle/>
          <a:p>
            <a:pPr indent="0" marL="0">
              <a:buNone/>
            </a:pPr>
            <a:r>
              <a:rPr lang="en-US" sz="3600" b="1" dirty="0">
                <a:solidFill>
                  <a:srgbClr val="76B900"/>
                </a:solidFill>
              </a:rPr>
              <a:t>74.7%</a:t>
            </a:r>
            <a:endParaRPr lang="en-US" sz="3600" dirty="0"/>
          </a:p>
        </p:txBody>
      </p:sp>
      <p:sp>
        <p:nvSpPr>
          <p:cNvPr id="9" name="Text 7"/>
          <p:cNvSpPr txBox="1"/>
          <p:nvPr/>
        </p:nvSpPr>
        <p:spPr>
          <a:xfrm>
            <a:off x="2697480" y="1965960"/>
            <a:ext cx="1645920" cy="320040"/>
          </a:xfrm>
          <a:prstGeom prst="rect">
            <a:avLst/>
          </a:prstGeom>
          <a:noFill/>
          <a:ln/>
        </p:spPr>
        <p:txBody>
          <a:bodyPr wrap="square" lIns="0" tIns="0" rIns="0" bIns="0" rtlCol="0" anchor="ctr"/>
          <a:lstStyle/>
          <a:p>
            <a:pPr indent="0" marL="0">
              <a:buNone/>
            </a:pPr>
            <a:r>
              <a:rPr lang="en-US" sz="1400" b="1" dirty="0">
                <a:solidFill>
                  <a:srgbClr val="1A1A1A"/>
                </a:solidFill>
              </a:rPr>
              <a:t>Gross margin</a:t>
            </a:r>
            <a:endParaRPr lang="en-US" sz="1400" dirty="0"/>
          </a:p>
        </p:txBody>
      </p:sp>
      <p:sp>
        <p:nvSpPr>
          <p:cNvPr id="10" name="Text 8"/>
          <p:cNvSpPr txBox="1"/>
          <p:nvPr/>
        </p:nvSpPr>
        <p:spPr>
          <a:xfrm>
            <a:off x="2697480" y="2331720"/>
            <a:ext cx="1645920" cy="960120"/>
          </a:xfrm>
          <a:prstGeom prst="rect">
            <a:avLst/>
          </a:prstGeom>
          <a:noFill/>
          <a:ln/>
        </p:spPr>
        <p:txBody>
          <a:bodyPr wrap="square" lIns="0" tIns="0" rIns="0" bIns="0" rtlCol="0" anchor="t"/>
          <a:lstStyle/>
          <a:p>
            <a:pPr indent="0" marL="0">
              <a:buNone/>
            </a:pPr>
            <a:r>
              <a:rPr lang="en-US" sz="1200" dirty="0">
                <a:solidFill>
                  <a:srgbClr val="5F6B5A"/>
                </a:solidFill>
              </a:rPr>
              <a:t>Pricing power: AMD 55.7%, Intel 38.9%, industry 57.4%</a:t>
            </a:r>
            <a:endParaRPr lang="en-US" sz="1200" dirty="0"/>
          </a:p>
        </p:txBody>
      </p:sp>
      <p:sp>
        <p:nvSpPr>
          <p:cNvPr id="11" name="stat2"/>
          <p:cNvSpPr/>
          <p:nvPr/>
        </p:nvSpPr>
        <p:spPr>
          <a:xfrm>
            <a:off x="4663440" y="1051560"/>
            <a:ext cx="1920240" cy="2331720"/>
          </a:xfrm>
          <a:prstGeom prst="roundRect">
            <a:avLst>
              <a:gd name="adj" fmla="val 3810"/>
            </a:avLst>
          </a:prstGeom>
          <a:solidFill>
            <a:srgbClr val="F2F4EF"/>
          </a:solidFill>
          <a:ln w="12700">
            <a:solidFill>
              <a:srgbClr val="F2F4EF"/>
            </a:solidFill>
            <a:prstDash val="solid"/>
          </a:ln>
        </p:spPr>
      </p:sp>
      <p:sp>
        <p:nvSpPr>
          <p:cNvPr id="12" name="Text 10"/>
          <p:cNvSpPr txBox="1"/>
          <p:nvPr/>
        </p:nvSpPr>
        <p:spPr>
          <a:xfrm>
            <a:off x="4800600" y="1188720"/>
            <a:ext cx="1645920" cy="777240"/>
          </a:xfrm>
          <a:prstGeom prst="rect">
            <a:avLst/>
          </a:prstGeom>
          <a:noFill/>
          <a:ln/>
        </p:spPr>
        <p:txBody>
          <a:bodyPr wrap="square" lIns="0" tIns="0" rIns="0" bIns="0" rtlCol="0" anchor="ctr"/>
          <a:lstStyle/>
          <a:p>
            <a:pPr indent="0" marL="0">
              <a:buNone/>
            </a:pPr>
            <a:r>
              <a:rPr lang="en-US" sz="3600" b="1" dirty="0">
                <a:solidFill>
                  <a:srgbClr val="76B900"/>
                </a:solidFill>
              </a:rPr>
              <a:t>117%</a:t>
            </a:r>
            <a:endParaRPr lang="en-US" sz="3600" dirty="0"/>
          </a:p>
        </p:txBody>
      </p:sp>
      <p:sp>
        <p:nvSpPr>
          <p:cNvPr id="13" name="Text 11"/>
          <p:cNvSpPr txBox="1"/>
          <p:nvPr/>
        </p:nvSpPr>
        <p:spPr>
          <a:xfrm>
            <a:off x="4800600" y="1965960"/>
            <a:ext cx="1645920" cy="320040"/>
          </a:xfrm>
          <a:prstGeom prst="rect">
            <a:avLst/>
          </a:prstGeom>
          <a:noFill/>
          <a:ln/>
        </p:spPr>
        <p:txBody>
          <a:bodyPr wrap="square" lIns="0" tIns="0" rIns="0" bIns="0" rtlCol="0" anchor="ctr"/>
          <a:lstStyle/>
          <a:p>
            <a:pPr indent="0" marL="0">
              <a:buNone/>
            </a:pPr>
            <a:r>
              <a:rPr lang="en-US" sz="1400" b="1" dirty="0">
                <a:solidFill>
                  <a:srgbClr val="1A1A1A"/>
                </a:solidFill>
              </a:rPr>
              <a:t>Return on equity</a:t>
            </a:r>
            <a:endParaRPr lang="en-US" sz="1400" dirty="0"/>
          </a:p>
        </p:txBody>
      </p:sp>
      <p:sp>
        <p:nvSpPr>
          <p:cNvPr id="14" name="Text 12"/>
          <p:cNvSpPr txBox="1"/>
          <p:nvPr/>
        </p:nvSpPr>
        <p:spPr>
          <a:xfrm>
            <a:off x="4800600" y="2331720"/>
            <a:ext cx="1645920" cy="960120"/>
          </a:xfrm>
          <a:prstGeom prst="rect">
            <a:avLst/>
          </a:prstGeom>
          <a:noFill/>
          <a:ln/>
        </p:spPr>
        <p:txBody>
          <a:bodyPr wrap="square" lIns="0" tIns="0" rIns="0" bIns="0" rtlCol="0" anchor="t"/>
          <a:lstStyle/>
          <a:p>
            <a:pPr indent="0" marL="0">
              <a:buNone/>
            </a:pPr>
            <a:r>
              <a:rPr lang="en-US" sz="1200" dirty="0">
                <a:solidFill>
                  <a:srgbClr val="5F6B5A"/>
                </a:solidFill>
              </a:rPr>
              <a:t>Profit is larger than the whole equity base. Industry is 7.2%</a:t>
            </a:r>
            <a:endParaRPr lang="en-US" sz="1200" dirty="0"/>
          </a:p>
        </p:txBody>
      </p:sp>
      <p:sp>
        <p:nvSpPr>
          <p:cNvPr id="15" name="stat3"/>
          <p:cNvSpPr/>
          <p:nvPr/>
        </p:nvSpPr>
        <p:spPr>
          <a:xfrm>
            <a:off x="6766560" y="1051560"/>
            <a:ext cx="1920240" cy="2331720"/>
          </a:xfrm>
          <a:prstGeom prst="roundRect">
            <a:avLst>
              <a:gd name="adj" fmla="val 3810"/>
            </a:avLst>
          </a:prstGeom>
          <a:solidFill>
            <a:srgbClr val="F2F4EF"/>
          </a:solidFill>
          <a:ln w="12700">
            <a:solidFill>
              <a:srgbClr val="F2F4EF"/>
            </a:solidFill>
            <a:prstDash val="solid"/>
          </a:ln>
        </p:spPr>
      </p:sp>
      <p:sp>
        <p:nvSpPr>
          <p:cNvPr id="16" name="Text 14"/>
          <p:cNvSpPr txBox="1"/>
          <p:nvPr/>
        </p:nvSpPr>
        <p:spPr>
          <a:xfrm>
            <a:off x="6903720" y="1188720"/>
            <a:ext cx="1645920" cy="777240"/>
          </a:xfrm>
          <a:prstGeom prst="rect">
            <a:avLst/>
          </a:prstGeom>
          <a:noFill/>
          <a:ln/>
        </p:spPr>
        <p:txBody>
          <a:bodyPr wrap="square" lIns="0" tIns="0" rIns="0" bIns="0" rtlCol="0" anchor="ctr"/>
          <a:lstStyle/>
          <a:p>
            <a:pPr indent="0" marL="0">
              <a:buNone/>
            </a:pPr>
            <a:r>
              <a:rPr lang="en-US" sz="3600" b="1" dirty="0">
                <a:solidFill>
                  <a:srgbClr val="76B900"/>
                </a:solidFill>
              </a:rPr>
              <a:t>4.59</a:t>
            </a:r>
            <a:endParaRPr lang="en-US" sz="3600" dirty="0"/>
          </a:p>
        </p:txBody>
      </p:sp>
      <p:sp>
        <p:nvSpPr>
          <p:cNvPr id="17" name="Text 15"/>
          <p:cNvSpPr txBox="1"/>
          <p:nvPr/>
        </p:nvSpPr>
        <p:spPr>
          <a:xfrm>
            <a:off x="6903720" y="1965960"/>
            <a:ext cx="1645920" cy="320040"/>
          </a:xfrm>
          <a:prstGeom prst="rect">
            <a:avLst/>
          </a:prstGeom>
          <a:noFill/>
          <a:ln/>
        </p:spPr>
        <p:txBody>
          <a:bodyPr wrap="square" lIns="0" tIns="0" rIns="0" bIns="0" rtlCol="0" anchor="ctr"/>
          <a:lstStyle/>
          <a:p>
            <a:pPr indent="0" marL="0">
              <a:buNone/>
            </a:pPr>
            <a:r>
              <a:rPr lang="en-US" sz="1400" b="1" dirty="0">
                <a:solidFill>
                  <a:srgbClr val="1A1A1A"/>
                </a:solidFill>
              </a:rPr>
              <a:t>Current ratio</a:t>
            </a:r>
            <a:endParaRPr lang="en-US" sz="1400" dirty="0"/>
          </a:p>
        </p:txBody>
      </p:sp>
      <p:sp>
        <p:nvSpPr>
          <p:cNvPr id="18" name="Text 16"/>
          <p:cNvSpPr txBox="1"/>
          <p:nvPr/>
        </p:nvSpPr>
        <p:spPr>
          <a:xfrm>
            <a:off x="6903720" y="2331720"/>
            <a:ext cx="1645920" cy="960120"/>
          </a:xfrm>
          <a:prstGeom prst="rect">
            <a:avLst/>
          </a:prstGeom>
          <a:noFill/>
          <a:ln/>
        </p:spPr>
        <p:txBody>
          <a:bodyPr wrap="square" lIns="0" tIns="0" rIns="0" bIns="0" rtlCol="0" anchor="t"/>
          <a:lstStyle/>
          <a:p>
            <a:pPr indent="0" marL="0">
              <a:buNone/>
            </a:pPr>
            <a:r>
              <a:rPr lang="en-US" sz="1200" dirty="0">
                <a:solidFill>
                  <a:srgbClr val="5F6B5A"/>
                </a:solidFill>
              </a:rPr>
              <a:t>Very liquid. Debt/equity is only 0.17</a:t>
            </a:r>
            <a:endParaRPr lang="en-US" sz="1200" dirty="0"/>
          </a:p>
        </p:txBody>
      </p:sp>
      <p:sp>
        <p:nvSpPr>
          <p:cNvPr id="19" name="Text 17"/>
          <p:cNvSpPr txBox="1"/>
          <p:nvPr/>
        </p:nvSpPr>
        <p:spPr>
          <a:xfrm>
            <a:off x="457200" y="3611880"/>
            <a:ext cx="8229600" cy="777240"/>
          </a:xfrm>
          <a:prstGeom prst="rect">
            <a:avLst/>
          </a:prstGeom>
          <a:noFill/>
          <a:ln/>
        </p:spPr>
        <p:txBody>
          <a:bodyPr wrap="square" lIns="0" tIns="0" rIns="0" bIns="0" rtlCol="0" anchor="t"/>
          <a:lstStyle/>
          <a:p>
            <a:pPr indent="0" marL="0">
              <a:buNone/>
            </a:pPr>
            <a:r>
              <a:rPr lang="en-US" sz="1400" b="1" dirty="0">
                <a:solidFill>
                  <a:srgbClr val="1A1A1A"/>
                </a:solidFill>
              </a:rPr>
              <a:t>The pattern: </a:t>
            </a:r>
            <a:pPr indent="0" marL="0">
              <a:buNone/>
            </a:pPr>
            <a:r>
              <a:rPr lang="en-US" sz="1400" dirty="0">
                <a:solidFill>
                  <a:srgbClr val="1A1A1A"/>
                </a:solidFill>
              </a:rPr>
              <a:t>the most profitable chip company is priced the lowest on earnings. The market expects NVIDIA's profits to keep growing (forward P/E 18x) but is not paying a big premium for that growth. AMD is priced on future hopes; Intel is losing money.</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5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800" b="1" dirty="0">
                <a:solidFill>
                  <a:schemeClr val="tx1"/>
                </a:solidFill>
              </a:rPr>
              <a:t>Five-year trends: income statement and cash flow ($B)</a:t>
            </a:r>
            <a:endParaRPr lang="en-US" sz="2800" dirty="0"/>
          </a:p>
        </p:txBody>
      </p:sp>
      <p:graphicFrame>
        <p:nvGraphicFramePr>
          <p:cNvPr id="3" name="Chart 0" descr=""/>
          <p:cNvGraphicFramePr/>
          <p:nvPr/>
        </p:nvGraphicFramePr>
        <p:xfrm>
          <a:off x="457200" y="868680"/>
          <a:ext cx="4023360" cy="1783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663440" y="868680"/>
          <a:ext cx="4023360" cy="178308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Chart 2" descr=""/>
          <p:cNvGraphicFramePr/>
          <p:nvPr/>
        </p:nvGraphicFramePr>
        <p:xfrm>
          <a:off x="457200" y="2697480"/>
          <a:ext cx="4023360" cy="1783080"/>
        </p:xfrm>
        <a:graphic xmlns:a="http://schemas.openxmlformats.org/drawingml/2006/main">
          <a:graphicData uri="http://schemas.openxmlformats.org/drawingml/2006/chart">
            <c:chart xmlns:c="http://schemas.openxmlformats.org/drawingml/2006/chart" r:id="rId3"/>
          </a:graphicData>
        </a:graphic>
      </p:graphicFrame>
      <p:graphicFrame>
        <p:nvGraphicFramePr>
          <p:cNvPr id="6" name="Chart 3" descr=""/>
          <p:cNvGraphicFramePr/>
          <p:nvPr/>
        </p:nvGraphicFramePr>
        <p:xfrm>
          <a:off x="4663440" y="2697480"/>
          <a:ext cx="4023360" cy="1783080"/>
        </p:xfrm>
        <a:graphic xmlns:a="http://schemas.openxmlformats.org/drawingml/2006/main">
          <a:graphicData uri="http://schemas.openxmlformats.org/drawingml/2006/chart">
            <c:chart xmlns:c="http://schemas.openxmlformats.org/drawingml/2006/chart" r:id="rId4"/>
          </a:graphicData>
        </a:graphic>
      </p:graphicFrame>
      <p:sp>
        <p:nvSpPr>
          <p:cNvPr id="7" name="Text 1"/>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800" dirty="0">
                <a:solidFill>
                  <a:srgbClr val="5F6B5A"/>
                </a:solidFill>
              </a:rPr>
              <a:t>NVIDIA fiscal years FY22-FY26 (ending late Jan) shown as 2021-2025; AMD and Intel are calendar years. Intel 2025 FCF approximate (gross capex). Sources: company 10-Ks and earnings releases via stockanalysis.com and SEC filings.</a:t>
            </a:r>
            <a:endParaRPr lang="en-US" sz="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5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800" b="1" dirty="0">
                <a:solidFill>
                  <a:schemeClr val="tx1"/>
                </a:solidFill>
              </a:rPr>
              <a:t>Five-year trends: balance sheet</a:t>
            </a:r>
            <a:endParaRPr lang="en-US" sz="2800" dirty="0"/>
          </a:p>
        </p:txBody>
      </p:sp>
      <p:graphicFrame>
        <p:nvGraphicFramePr>
          <p:cNvPr id="3" name="Chart 0" descr=""/>
          <p:cNvGraphicFramePr/>
          <p:nvPr/>
        </p:nvGraphicFramePr>
        <p:xfrm>
          <a:off x="457200" y="914400"/>
          <a:ext cx="265176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3246120" y="914400"/>
          <a:ext cx="2651760" cy="324612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Chart 2" descr=""/>
          <p:cNvGraphicFramePr/>
          <p:nvPr/>
        </p:nvGraphicFramePr>
        <p:xfrm>
          <a:off x="6035040" y="914400"/>
          <a:ext cx="2651760" cy="3246120"/>
        </p:xfrm>
        <a:graphic xmlns:a="http://schemas.openxmlformats.org/drawingml/2006/main">
          <a:graphicData uri="http://schemas.openxmlformats.org/drawingml/2006/chart">
            <c:chart xmlns:c="http://schemas.openxmlformats.org/drawingml/2006/chart" r:id="rId3"/>
          </a:graphicData>
        </a:graphic>
      </p:graphicFrame>
      <p:sp>
        <p:nvSpPr>
          <p:cNvPr id="6" name="Text 1"/>
          <p:cNvSpPr txBox="1"/>
          <p:nvPr/>
        </p:nvSpPr>
        <p:spPr>
          <a:xfrm>
            <a:off x="457200" y="4498848"/>
            <a:ext cx="8229600" cy="292608"/>
          </a:xfrm>
          <a:prstGeom prst="rect">
            <a:avLst/>
          </a:prstGeom>
          <a:noFill/>
          <a:ln/>
        </p:spPr>
        <p:txBody>
          <a:bodyPr wrap="square" lIns="0" tIns="0" rIns="0" bIns="0" rtlCol="0" anchor="t"/>
          <a:lstStyle/>
          <a:p>
            <a:pPr indent="0" marL="0">
              <a:buNone/>
            </a:pPr>
            <a:r>
              <a:rPr lang="en-US" sz="900" dirty="0">
                <a:solidFill>
                  <a:srgbClr val="5F6B5A"/>
                </a:solidFill>
              </a:rPr>
              <a:t>NVIDIA FY22-FY26 shown as 2021-2025; AMD and Intel calendar years. Debt includes leases. Year-end figures. Source: stockanalysis.com (company 10-Ks).</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5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800" b="1" dirty="0">
                <a:solidFill>
                  <a:schemeClr val="tx1"/>
                </a:solidFill>
              </a:rPr>
              <a:t>Chapter 12 concepts applied to our data</a:t>
            </a:r>
            <a:endParaRPr lang="en-US" sz="2800" dirty="0"/>
          </a:p>
        </p:txBody>
      </p:sp>
      <p:sp>
        <p:nvSpPr>
          <p:cNvPr id="3" name="concept0"/>
          <p:cNvSpPr/>
          <p:nvPr/>
        </p:nvSpPr>
        <p:spPr>
          <a:xfrm>
            <a:off x="457200" y="960120"/>
            <a:ext cx="2606040" cy="3017520"/>
          </a:xfrm>
          <a:prstGeom prst="roundRect">
            <a:avLst>
              <a:gd name="adj" fmla="val 2807"/>
            </a:avLst>
          </a:prstGeom>
          <a:solidFill>
            <a:srgbClr val="F2F4EF"/>
          </a:solidFill>
          <a:ln w="12700">
            <a:solidFill>
              <a:srgbClr val="F2F4EF"/>
            </a:solidFill>
            <a:prstDash val="solid"/>
          </a:ln>
        </p:spPr>
      </p:sp>
      <p:sp>
        <p:nvSpPr>
          <p:cNvPr id="4" name="concept1"/>
          <p:cNvSpPr/>
          <p:nvPr/>
        </p:nvSpPr>
        <p:spPr>
          <a:xfrm>
            <a:off x="3268980" y="960120"/>
            <a:ext cx="2606040" cy="3017520"/>
          </a:xfrm>
          <a:prstGeom prst="roundRect">
            <a:avLst>
              <a:gd name="adj" fmla="val 2807"/>
            </a:avLst>
          </a:prstGeom>
          <a:solidFill>
            <a:srgbClr val="F2F4EF"/>
          </a:solidFill>
          <a:ln w="12700">
            <a:solidFill>
              <a:srgbClr val="F2F4EF"/>
            </a:solidFill>
            <a:prstDash val="solid"/>
          </a:ln>
        </p:spPr>
      </p:sp>
      <p:sp>
        <p:nvSpPr>
          <p:cNvPr id="5" name="concept2"/>
          <p:cNvSpPr/>
          <p:nvPr/>
        </p:nvSpPr>
        <p:spPr>
          <a:xfrm>
            <a:off x="6080760" y="960120"/>
            <a:ext cx="2606040" cy="3017520"/>
          </a:xfrm>
          <a:prstGeom prst="roundRect">
            <a:avLst>
              <a:gd name="adj" fmla="val 2807"/>
            </a:avLst>
          </a:prstGeom>
          <a:solidFill>
            <a:srgbClr val="F2F4EF"/>
          </a:solidFill>
          <a:ln w="12700">
            <a:solidFill>
              <a:srgbClr val="F2F4EF"/>
            </a:solidFill>
            <a:prstDash val="solid"/>
          </a:ln>
        </p:spPr>
      </p:sp>
      <p:sp>
        <p:nvSpPr>
          <p:cNvPr id="6" name="Shape 4"/>
          <p:cNvSpPr/>
          <p:nvPr/>
        </p:nvSpPr>
        <p:spPr>
          <a:xfrm>
            <a:off x="594360" y="1115568"/>
            <a:ext cx="292608" cy="292608"/>
          </a:xfrm>
          <a:prstGeom prst="ellipse">
            <a:avLst/>
          </a:prstGeom>
          <a:solidFill>
            <a:srgbClr val="76B900"/>
          </a:solidFill>
          <a:ln w="12700">
            <a:solidFill>
              <a:srgbClr val="76B900"/>
            </a:solidFill>
            <a:prstDash val="solid"/>
          </a:ln>
        </p:spPr>
      </p:sp>
      <p:sp>
        <p:nvSpPr>
          <p:cNvPr id="7" name="Text 5"/>
          <p:cNvSpPr txBox="1"/>
          <p:nvPr/>
        </p:nvSpPr>
        <p:spPr>
          <a:xfrm>
            <a:off x="594360" y="11155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Text 6"/>
          <p:cNvSpPr txBox="1"/>
          <p:nvPr/>
        </p:nvSpPr>
        <p:spPr>
          <a:xfrm>
            <a:off x="978408" y="1097280"/>
            <a:ext cx="1947672" cy="329184"/>
          </a:xfrm>
          <a:prstGeom prst="rect">
            <a:avLst/>
          </a:prstGeom>
          <a:noFill/>
          <a:ln/>
        </p:spPr>
        <p:txBody>
          <a:bodyPr wrap="square" lIns="0" tIns="0" rIns="0" bIns="0" rtlCol="0" anchor="ctr"/>
          <a:lstStyle/>
          <a:p>
            <a:pPr indent="0" marL="0">
              <a:buNone/>
            </a:pPr>
            <a:r>
              <a:rPr lang="en-US" sz="1500" b="1" dirty="0">
                <a:solidFill>
                  <a:srgbClr val="1A1A1A"/>
                </a:solidFill>
              </a:rPr>
              <a:t>Trend vs. peer analysis</a:t>
            </a:r>
            <a:endParaRPr lang="en-US" sz="1500" dirty="0"/>
          </a:p>
        </p:txBody>
      </p:sp>
      <p:sp>
        <p:nvSpPr>
          <p:cNvPr id="9" name="Text 7"/>
          <p:cNvSpPr txBox="1"/>
          <p:nvPr/>
        </p:nvSpPr>
        <p:spPr>
          <a:xfrm>
            <a:off x="594360" y="1554480"/>
            <a:ext cx="2331720" cy="22860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A1A1A"/>
                </a:solidFill>
              </a:rPr>
              <a:t>Trend (time-series): compare a company with itself over 5 years</a:t>
            </a:r>
            <a:endParaRPr lang="en-US" sz="1300" dirty="0"/>
          </a:p>
          <a:p>
            <a:pPr marL="177800" indent="-177800">
              <a:spcAft>
                <a:spcPts val="600"/>
              </a:spcAft>
              <a:buSzPct val="100000"/>
              <a:buChar char="•"/>
            </a:pPr>
            <a:r>
              <a:rPr lang="en-US" sz="1300" dirty="0">
                <a:solidFill>
                  <a:srgbClr val="1A1A1A"/>
                </a:solidFill>
              </a:rPr>
              <a:t>Cross-sectional: compare with AMD, Intel and the industry at one point in time</a:t>
            </a:r>
            <a:endParaRPr lang="en-US" sz="1300" dirty="0"/>
          </a:p>
          <a:p>
            <a:pPr marL="177800" indent="-177800">
              <a:spcAft>
                <a:spcPts val="600"/>
              </a:spcAft>
              <a:buSzPct val="100000"/>
              <a:buChar char="•"/>
            </a:pPr>
            <a:r>
              <a:rPr lang="en-US" sz="1300" dirty="0">
                <a:solidFill>
                  <a:srgbClr val="1A1A1A"/>
                </a:solidFill>
              </a:rPr>
              <a:t>NVIDIA looks strong on both: rising every year and ahead of peers</a:t>
            </a:r>
            <a:endParaRPr lang="en-US" sz="1300" dirty="0"/>
          </a:p>
        </p:txBody>
      </p:sp>
      <p:sp>
        <p:nvSpPr>
          <p:cNvPr id="10" name="Shape 8"/>
          <p:cNvSpPr/>
          <p:nvPr/>
        </p:nvSpPr>
        <p:spPr>
          <a:xfrm>
            <a:off x="3406140" y="1115568"/>
            <a:ext cx="292608" cy="292608"/>
          </a:xfrm>
          <a:prstGeom prst="ellipse">
            <a:avLst/>
          </a:prstGeom>
          <a:solidFill>
            <a:srgbClr val="76B900"/>
          </a:solidFill>
          <a:ln w="12700">
            <a:solidFill>
              <a:srgbClr val="76B900"/>
            </a:solidFill>
            <a:prstDash val="solid"/>
          </a:ln>
        </p:spPr>
      </p:sp>
      <p:sp>
        <p:nvSpPr>
          <p:cNvPr id="11" name="Text 9"/>
          <p:cNvSpPr txBox="1"/>
          <p:nvPr/>
        </p:nvSpPr>
        <p:spPr>
          <a:xfrm>
            <a:off x="3406140" y="11155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2" name="Text 10"/>
          <p:cNvSpPr txBox="1"/>
          <p:nvPr/>
        </p:nvSpPr>
        <p:spPr>
          <a:xfrm>
            <a:off x="3790188" y="1097280"/>
            <a:ext cx="1947672" cy="329184"/>
          </a:xfrm>
          <a:prstGeom prst="rect">
            <a:avLst/>
          </a:prstGeom>
          <a:noFill/>
          <a:ln/>
        </p:spPr>
        <p:txBody>
          <a:bodyPr wrap="square" lIns="0" tIns="0" rIns="0" bIns="0" rtlCol="0" anchor="ctr"/>
          <a:lstStyle/>
          <a:p>
            <a:pPr indent="0" marL="0">
              <a:buNone/>
            </a:pPr>
            <a:r>
              <a:rPr lang="en-US" sz="1500" b="1" dirty="0">
                <a:solidFill>
                  <a:srgbClr val="1A1A1A"/>
                </a:solidFill>
              </a:rPr>
              <a:t>DuPont analysis of ROE</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406140" y="1554480"/>
          <a:ext cx="2331720" cy="914400"/>
        </p:xfrm>
        <a:graphic>
          <a:graphicData uri="http://schemas.openxmlformats.org/drawingml/2006/table">
            <a:tbl>
              <a:tblPr/>
              <a:tblGrid>
                <a:gridCol w="1014984"/>
                <a:gridCol w="438912"/>
                <a:gridCol w="438912"/>
                <a:gridCol w="438912"/>
              </a:tblGrid>
              <a:tr h="274320">
                <a:tc>
                  <a:txBody>
                    <a:bodyPr/>
                    <a:lstStyle/>
                    <a:p>
                      <a:pPr indent="0" marL="0">
                        <a:buNone/>
                      </a:pP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c>
                  <a:txBody>
                    <a:bodyPr/>
                    <a:lstStyle/>
                    <a:p>
                      <a:pPr indent="0" marL="0">
                        <a:buNone/>
                      </a:pPr>
                      <a:r>
                        <a:rPr lang="en-US" sz="1000" b="1" dirty="0">
                          <a:solidFill>
                            <a:srgbClr val="4E7A00"/>
                          </a:solidFill>
                        </a:rPr>
                        <a:t>NVDA</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c>
                  <a:txBody>
                    <a:bodyPr/>
                    <a:lstStyle/>
                    <a:p>
                      <a:pPr indent="0" marL="0">
                        <a:buNone/>
                      </a:pPr>
                      <a:r>
                        <a:rPr lang="en-US" sz="1000" b="1" dirty="0">
                          <a:solidFill>
                            <a:srgbClr val="C0392B"/>
                          </a:solidFill>
                        </a:rPr>
                        <a:t>AMD</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c>
                  <a:txBody>
                    <a:bodyPr/>
                    <a:lstStyle/>
                    <a:p>
                      <a:pPr indent="0" marL="0">
                        <a:buNone/>
                      </a:pPr>
                      <a:r>
                        <a:rPr lang="en-US" sz="1000" b="1" dirty="0">
                          <a:solidFill>
                            <a:srgbClr val="2E86C1"/>
                          </a:solidFill>
                        </a:rPr>
                        <a:t>INTC</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r>
              <a:tr h="274320">
                <a:tc>
                  <a:txBody>
                    <a:bodyPr/>
                    <a:lstStyle/>
                    <a:p>
                      <a:pPr indent="0" marL="0">
                        <a:buNone/>
                      </a:pPr>
                      <a:r>
                        <a:rPr lang="en-US" sz="1000" dirty="0">
                          <a:solidFill>
                            <a:srgbClr val="1A1A1A"/>
                          </a:solidFill>
                        </a:rPr>
                        <a:t>Net margin</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c>
                  <a:txBody>
                    <a:bodyPr/>
                    <a:lstStyle/>
                    <a:p>
                      <a:pPr indent="0" marL="0">
                        <a:buNone/>
                      </a:pPr>
                      <a:r>
                        <a:rPr lang="en-US" sz="1000" dirty="0">
                          <a:solidFill>
                            <a:srgbClr val="1A1A1A"/>
                          </a:solidFill>
                        </a:rPr>
                        <a:t>55.6%</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c>
                  <a:txBody>
                    <a:bodyPr/>
                    <a:lstStyle/>
                    <a:p>
                      <a:pPr indent="0" marL="0">
                        <a:buNone/>
                      </a:pPr>
                      <a:r>
                        <a:rPr lang="en-US" sz="1000" dirty="0">
                          <a:solidFill>
                            <a:srgbClr val="1A1A1A"/>
                          </a:solidFill>
                        </a:rPr>
                        <a:t>12.5%</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c>
                  <a:txBody>
                    <a:bodyPr/>
                    <a:lstStyle/>
                    <a:p>
                      <a:pPr indent="0" marL="0">
                        <a:buNone/>
                      </a:pPr>
                      <a:r>
                        <a:rPr lang="en-US" sz="1000" dirty="0">
                          <a:solidFill>
                            <a:srgbClr val="1A1A1A"/>
                          </a:solidFill>
                        </a:rPr>
                        <a:t>-0.6%</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r>
              <a:tr h="274320">
                <a:tc>
                  <a:txBody>
                    <a:bodyPr/>
                    <a:lstStyle/>
                    <a:p>
                      <a:pPr indent="0" marL="0">
                        <a:buNone/>
                      </a:pPr>
                      <a:r>
                        <a:rPr lang="en-US" sz="1000" dirty="0">
                          <a:solidFill>
                            <a:srgbClr val="1A1A1A"/>
                          </a:solidFill>
                        </a:rPr>
                        <a:t>Asset turnover</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c>
                  <a:txBody>
                    <a:bodyPr/>
                    <a:lstStyle/>
                    <a:p>
                      <a:pPr indent="0" marL="0">
                        <a:buNone/>
                      </a:pPr>
                      <a:r>
                        <a:rPr lang="en-US" sz="1000" dirty="0">
                          <a:solidFill>
                            <a:srgbClr val="1A1A1A"/>
                          </a:solidFill>
                        </a:rPr>
                        <a:t>1.04</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c>
                  <a:txBody>
                    <a:bodyPr/>
                    <a:lstStyle/>
                    <a:p>
                      <a:pPr indent="0" marL="0">
                        <a:buNone/>
                      </a:pPr>
                      <a:r>
                        <a:rPr lang="en-US" sz="1000" dirty="0">
                          <a:solidFill>
                            <a:srgbClr val="1A1A1A"/>
                          </a:solidFill>
                        </a:rPr>
                        <a:t>0.45</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c>
                  <a:txBody>
                    <a:bodyPr/>
                    <a:lstStyle/>
                    <a:p>
                      <a:pPr indent="0" marL="0">
                        <a:buNone/>
                      </a:pPr>
                      <a:r>
                        <a:rPr lang="en-US" sz="1000" dirty="0">
                          <a:solidFill>
                            <a:srgbClr val="1A1A1A"/>
                          </a:solidFill>
                        </a:rPr>
                        <a:t>0.25</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r>
              <a:tr h="274320">
                <a:tc>
                  <a:txBody>
                    <a:bodyPr/>
                    <a:lstStyle/>
                    <a:p>
                      <a:pPr indent="0" marL="0">
                        <a:buNone/>
                      </a:pPr>
                      <a:r>
                        <a:rPr lang="en-US" sz="1000" dirty="0">
                          <a:solidFill>
                            <a:srgbClr val="1A1A1A"/>
                          </a:solidFill>
                        </a:rPr>
                        <a:t>Equity multiplier</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c>
                  <a:txBody>
                    <a:bodyPr/>
                    <a:lstStyle/>
                    <a:p>
                      <a:pPr indent="0" marL="0">
                        <a:buNone/>
                      </a:pPr>
                      <a:r>
                        <a:rPr lang="en-US" sz="1000" dirty="0">
                          <a:solidFill>
                            <a:srgbClr val="1A1A1A"/>
                          </a:solidFill>
                        </a:rPr>
                        <a:t>1.31</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c>
                  <a:txBody>
                    <a:bodyPr/>
                    <a:lstStyle/>
                    <a:p>
                      <a:pPr indent="0" marL="0">
                        <a:buNone/>
                      </a:pPr>
                      <a:r>
                        <a:rPr lang="en-US" sz="1000" dirty="0">
                          <a:solidFill>
                            <a:srgbClr val="1A1A1A"/>
                          </a:solidFill>
                        </a:rPr>
                        <a:t>1.22</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c>
                  <a:txBody>
                    <a:bodyPr/>
                    <a:lstStyle/>
                    <a:p>
                      <a:pPr indent="0" marL="0">
                        <a:buNone/>
                      </a:pPr>
                      <a:r>
                        <a:rPr lang="en-US" sz="1000" dirty="0">
                          <a:solidFill>
                            <a:srgbClr val="1A1A1A"/>
                          </a:solidFill>
                        </a:rPr>
                        <a:t>1.67</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r>
              <a:tr h="274320">
                <a:tc>
                  <a:txBody>
                    <a:bodyPr/>
                    <a:lstStyle/>
                    <a:p>
                      <a:pPr indent="0" marL="0">
                        <a:buNone/>
                      </a:pPr>
                      <a:r>
                        <a:rPr lang="en-US" sz="1000" b="1" dirty="0">
                          <a:solidFill>
                            <a:srgbClr val="1A1A1A"/>
                          </a:solidFill>
                        </a:rPr>
                        <a:t>ROE</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c>
                  <a:txBody>
                    <a:bodyPr/>
                    <a:lstStyle/>
                    <a:p>
                      <a:pPr indent="0" marL="0">
                        <a:buNone/>
                      </a:pPr>
                      <a:r>
                        <a:rPr lang="en-US" sz="1000" b="1" dirty="0">
                          <a:solidFill>
                            <a:srgbClr val="1A1A1A"/>
                          </a:solidFill>
                        </a:rPr>
                        <a:t>76%</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c>
                  <a:txBody>
                    <a:bodyPr/>
                    <a:lstStyle/>
                    <a:p>
                      <a:pPr indent="0" marL="0">
                        <a:buNone/>
                      </a:pPr>
                      <a:r>
                        <a:rPr lang="en-US" sz="1000" b="1" dirty="0">
                          <a:solidFill>
                            <a:srgbClr val="1A1A1A"/>
                          </a:solidFill>
                        </a:rPr>
                        <a:t>6.9%</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c>
                  <a:txBody>
                    <a:bodyPr/>
                    <a:lstStyle/>
                    <a:p>
                      <a:pPr indent="0" marL="0">
                        <a:buNone/>
                      </a:pPr>
                      <a:r>
                        <a:rPr lang="en-US" sz="1000" b="1" dirty="0">
                          <a:solidFill>
                            <a:srgbClr val="1A1A1A"/>
                          </a:solidFill>
                        </a:rPr>
                        <a:t>-0.2%</a:t>
                      </a:r>
                      <a:endParaRPr lang="en-US" sz="1000" dirty="0"/>
                    </a:p>
                  </a:txBody>
                  <a:tcPr marL="36576" marR="36576" marT="18288" marB="18288">
                    <a:lnL w="6350" cap="flat" cmpd="sng" algn="ctr">
                      <a:solidFill>
                        <a:srgbClr val="E3E7DF"/>
                      </a:solidFill>
                      <a:prstDash val="solid"/>
                      <a:round/>
                      <a:headEnd type="none" w="med" len="med"/>
                      <a:tailEnd type="none" w="med" len="med"/>
                    </a:lnL>
                    <a:lnR w="6350" cap="flat" cmpd="sng" algn="ctr">
                      <a:solidFill>
                        <a:srgbClr val="E3E7DF"/>
                      </a:solidFill>
                      <a:prstDash val="solid"/>
                      <a:round/>
                      <a:headEnd type="none" w="med" len="med"/>
                      <a:tailEnd type="none" w="med" len="med"/>
                    </a:lnR>
                    <a:lnT w="6350" cap="flat" cmpd="sng" algn="ctr">
                      <a:solidFill>
                        <a:srgbClr val="E3E7DF"/>
                      </a:solidFill>
                      <a:prstDash val="solid"/>
                      <a:round/>
                      <a:headEnd type="none" w="med" len="med"/>
                      <a:tailEnd type="none" w="med" len="med"/>
                    </a:lnT>
                    <a:lnB w="6350" cap="flat" cmpd="sng" algn="ctr">
                      <a:solidFill>
                        <a:srgbClr val="E3E7DF"/>
                      </a:solidFill>
                      <a:prstDash val="solid"/>
                      <a:round/>
                      <a:headEnd type="none" w="med" len="med"/>
                      <a:tailEnd type="none" w="med" len="med"/>
                    </a:lnB>
                  </a:tcPr>
                </a:tc>
              </a:tr>
            </a:tbl>
          </a:graphicData>
        </a:graphic>
      </p:graphicFrame>
      <p:sp>
        <p:nvSpPr>
          <p:cNvPr id="14" name="Text 11"/>
          <p:cNvSpPr txBox="1"/>
          <p:nvPr/>
        </p:nvSpPr>
        <p:spPr>
          <a:xfrm>
            <a:off x="3406140" y="3063240"/>
            <a:ext cx="2331720" cy="822960"/>
          </a:xfrm>
          <a:prstGeom prst="rect">
            <a:avLst/>
          </a:prstGeom>
          <a:noFill/>
          <a:ln/>
        </p:spPr>
        <p:txBody>
          <a:bodyPr wrap="square" lIns="0" tIns="0" rIns="0" bIns="0" rtlCol="0" anchor="t"/>
          <a:lstStyle/>
          <a:p>
            <a:pPr indent="0" marL="0">
              <a:buNone/>
            </a:pPr>
            <a:r>
              <a:rPr lang="en-US" sz="1300" dirty="0">
                <a:solidFill>
                  <a:srgbClr val="1A1A1A"/>
                </a:solidFill>
              </a:rPr>
              <a:t>ROE comes from profit and asset use, not debt</a:t>
            </a:r>
            <a:endParaRPr lang="en-US" sz="1300" dirty="0"/>
          </a:p>
        </p:txBody>
      </p:sp>
      <p:sp>
        <p:nvSpPr>
          <p:cNvPr id="15" name="Text 12"/>
          <p:cNvSpPr txBox="1"/>
          <p:nvPr/>
        </p:nvSpPr>
        <p:spPr>
          <a:xfrm>
            <a:off x="3406140" y="3611880"/>
            <a:ext cx="2331720" cy="274320"/>
          </a:xfrm>
          <a:prstGeom prst="rect">
            <a:avLst/>
          </a:prstGeom>
          <a:noFill/>
          <a:ln/>
        </p:spPr>
        <p:txBody>
          <a:bodyPr wrap="square" lIns="0" tIns="0" rIns="0" bIns="0" rtlCol="0" anchor="ctr"/>
          <a:lstStyle/>
          <a:p>
            <a:pPr indent="0" marL="0">
              <a:buNone/>
            </a:pPr>
            <a:r>
              <a:rPr lang="en-US" sz="900" dirty="0">
                <a:solidFill>
                  <a:srgbClr val="5F6B5A"/>
                </a:solidFill>
              </a:rPr>
              <a:t>FY2025/26 annual, year-end balances</a:t>
            </a:r>
            <a:endParaRPr lang="en-US" sz="900" dirty="0"/>
          </a:p>
        </p:txBody>
      </p:sp>
      <p:sp>
        <p:nvSpPr>
          <p:cNvPr id="16" name="Shape 13"/>
          <p:cNvSpPr/>
          <p:nvPr/>
        </p:nvSpPr>
        <p:spPr>
          <a:xfrm>
            <a:off x="6217920" y="1115568"/>
            <a:ext cx="292608" cy="292608"/>
          </a:xfrm>
          <a:prstGeom prst="ellipse">
            <a:avLst/>
          </a:prstGeom>
          <a:solidFill>
            <a:srgbClr val="76B900"/>
          </a:solidFill>
          <a:ln w="12700">
            <a:solidFill>
              <a:srgbClr val="76B900"/>
            </a:solidFill>
            <a:prstDash val="solid"/>
          </a:ln>
        </p:spPr>
      </p:sp>
      <p:sp>
        <p:nvSpPr>
          <p:cNvPr id="17" name="Text 14"/>
          <p:cNvSpPr txBox="1"/>
          <p:nvPr/>
        </p:nvSpPr>
        <p:spPr>
          <a:xfrm>
            <a:off x="6217920" y="11155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Text 15"/>
          <p:cNvSpPr txBox="1"/>
          <p:nvPr/>
        </p:nvSpPr>
        <p:spPr>
          <a:xfrm>
            <a:off x="6601968" y="1097280"/>
            <a:ext cx="1947672" cy="329184"/>
          </a:xfrm>
          <a:prstGeom prst="rect">
            <a:avLst/>
          </a:prstGeom>
          <a:noFill/>
          <a:ln/>
        </p:spPr>
        <p:txBody>
          <a:bodyPr wrap="square" lIns="0" tIns="0" rIns="0" bIns="0" rtlCol="0" anchor="ctr"/>
          <a:lstStyle/>
          <a:p>
            <a:pPr indent="0" marL="0">
              <a:buNone/>
            </a:pPr>
            <a:r>
              <a:rPr lang="en-US" sz="1500" b="1" dirty="0">
                <a:solidFill>
                  <a:srgbClr val="1A1A1A"/>
                </a:solidFill>
              </a:rPr>
              <a:t>Limits of ratios</a:t>
            </a:r>
            <a:endParaRPr lang="en-US" sz="1500" dirty="0"/>
          </a:p>
        </p:txBody>
      </p:sp>
      <p:sp>
        <p:nvSpPr>
          <p:cNvPr id="19" name="Text 16"/>
          <p:cNvSpPr txBox="1"/>
          <p:nvPr/>
        </p:nvSpPr>
        <p:spPr>
          <a:xfrm>
            <a:off x="6217920" y="1554480"/>
            <a:ext cx="2331720" cy="22860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A1A1A"/>
                </a:solidFill>
              </a:rPr>
              <a:t>Industry averages can mislead: CSIMarket's average includes NVIDIA itself, and AMD's 143x P/E skews the mean</a:t>
            </a:r>
            <a:endParaRPr lang="en-US" sz="1300" dirty="0"/>
          </a:p>
          <a:p>
            <a:pPr marL="177800" indent="-177800">
              <a:spcAft>
                <a:spcPts val="600"/>
              </a:spcAft>
              <a:buSzPct val="100000"/>
              <a:buChar char="•"/>
            </a:pPr>
            <a:r>
              <a:rPr lang="en-US" sz="1300" dirty="0">
                <a:solidFill>
                  <a:srgbClr val="1A1A1A"/>
                </a:solidFill>
              </a:rPr>
              <a:t>Timing differs: NVIDIA's fiscal year ends in January</a:t>
            </a:r>
            <a:endParaRPr lang="en-US" sz="1300" dirty="0"/>
          </a:p>
          <a:p>
            <a:pPr marL="177800" indent="-177800">
              <a:spcAft>
                <a:spcPts val="600"/>
              </a:spcAft>
              <a:buSzPct val="100000"/>
              <a:buChar char="•"/>
            </a:pPr>
            <a:r>
              <a:rPr lang="en-US" sz="1300" dirty="0">
                <a:solidFill>
                  <a:srgbClr val="1A1A1A"/>
                </a:solidFill>
              </a:rPr>
              <a:t>One-time items: Intel's 2024 write-downs</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5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800" b="1" dirty="0">
                <a:solidFill>
                  <a:schemeClr val="tx1"/>
                </a:solidFill>
              </a:rPr>
              <a:t>Why NVIDIA is ahead: what the articles say</a:t>
            </a:r>
            <a:endParaRPr lang="en-US" sz="2800" dirty="0"/>
          </a:p>
        </p:txBody>
      </p:sp>
      <p:sp>
        <p:nvSpPr>
          <p:cNvPr id="3" name="article0"/>
          <p:cNvSpPr/>
          <p:nvPr/>
        </p:nvSpPr>
        <p:spPr>
          <a:xfrm>
            <a:off x="457200" y="914400"/>
            <a:ext cx="8229600" cy="777240"/>
          </a:xfrm>
          <a:prstGeom prst="roundRect">
            <a:avLst>
              <a:gd name="adj" fmla="val 9412"/>
            </a:avLst>
          </a:prstGeom>
          <a:solidFill>
            <a:srgbClr val="F2F4EF"/>
          </a:solidFill>
          <a:ln w="12700">
            <a:solidFill>
              <a:srgbClr val="F2F4EF"/>
            </a:solidFill>
            <a:prstDash val="solid"/>
          </a:ln>
        </p:spPr>
      </p:sp>
      <p:sp>
        <p:nvSpPr>
          <p:cNvPr id="4" name="Shape 2"/>
          <p:cNvSpPr/>
          <p:nvPr/>
        </p:nvSpPr>
        <p:spPr>
          <a:xfrm>
            <a:off x="594360" y="1133856"/>
            <a:ext cx="868680" cy="338328"/>
          </a:xfrm>
          <a:prstGeom prst="roundRect">
            <a:avLst>
              <a:gd name="adj" fmla="val 16216"/>
            </a:avLst>
          </a:prstGeom>
          <a:solidFill>
            <a:srgbClr val="76B900"/>
          </a:solidFill>
          <a:ln w="12700">
            <a:solidFill>
              <a:srgbClr val="76B900"/>
            </a:solidFill>
            <a:prstDash val="solid"/>
          </a:ln>
        </p:spPr>
      </p:sp>
      <p:sp>
        <p:nvSpPr>
          <p:cNvPr id="5" name="Text 3"/>
          <p:cNvSpPr txBox="1"/>
          <p:nvPr/>
        </p:nvSpPr>
        <p:spPr>
          <a:xfrm>
            <a:off x="594360" y="1133856"/>
            <a:ext cx="868680" cy="338328"/>
          </a:xfrm>
          <a:prstGeom prst="rect">
            <a:avLst/>
          </a:prstGeom>
          <a:noFill/>
          <a:ln/>
        </p:spPr>
        <p:txBody>
          <a:bodyPr wrap="square" lIns="0" tIns="0" rIns="0" bIns="0" rtlCol="0" anchor="ctr"/>
          <a:lstStyle/>
          <a:p>
            <a:pPr algn="ctr" indent="0" marL="0">
              <a:buNone/>
            </a:pPr>
            <a:r>
              <a:rPr lang="en-US" sz="1100" b="1" dirty="0">
                <a:solidFill>
                  <a:srgbClr val="FFFFFF"/>
                </a:solidFill>
              </a:rPr>
              <a:t>NVIDIA</a:t>
            </a:r>
            <a:endParaRPr lang="en-US" sz="1100" dirty="0"/>
          </a:p>
        </p:txBody>
      </p:sp>
      <p:sp>
        <p:nvSpPr>
          <p:cNvPr id="6" name="Text 4"/>
          <p:cNvSpPr txBox="1"/>
          <p:nvPr/>
        </p:nvSpPr>
        <p:spPr>
          <a:xfrm>
            <a:off x="1645920" y="987552"/>
            <a:ext cx="6858000" cy="274320"/>
          </a:xfrm>
          <a:prstGeom prst="rect">
            <a:avLst/>
          </a:prstGeom>
          <a:noFill/>
          <a:ln/>
        </p:spPr>
        <p:txBody>
          <a:bodyPr wrap="square" lIns="0" tIns="0" rIns="0" bIns="0" rtlCol="0" anchor="ctr"/>
          <a:lstStyle/>
          <a:p>
            <a:pPr indent="0" marL="0">
              <a:buNone/>
            </a:pPr>
            <a:r>
              <a:rPr lang="en-US" sz="1400" b="1" dirty="0">
                <a:solidFill>
                  <a:srgbClr val="1A1A1A"/>
                </a:solidFill>
              </a:rPr>
              <a:t>Cheapest P/E despite the best profits</a:t>
            </a:r>
            <a:endParaRPr lang="en-US" sz="1400" dirty="0"/>
          </a:p>
        </p:txBody>
      </p:sp>
      <p:sp>
        <p:nvSpPr>
          <p:cNvPr id="7" name="Text 5"/>
          <p:cNvSpPr txBox="1"/>
          <p:nvPr/>
        </p:nvSpPr>
        <p:spPr>
          <a:xfrm>
            <a:off x="1645920" y="1261872"/>
            <a:ext cx="6858000" cy="384048"/>
          </a:xfrm>
          <a:prstGeom prst="rect">
            <a:avLst/>
          </a:prstGeom>
          <a:noFill/>
          <a:ln/>
        </p:spPr>
        <p:txBody>
          <a:bodyPr wrap="square" lIns="0" tIns="0" rIns="0" bIns="0" rtlCol="0" anchor="t"/>
          <a:lstStyle/>
          <a:p>
            <a:pPr indent="0" marL="0">
              <a:buNone/>
            </a:pPr>
            <a:r>
              <a:rPr lang="en-US" sz="1100" dirty="0">
                <a:solidFill>
                  <a:srgbClr val="5F6B5A"/>
                </a:solidFill>
              </a:rPr>
              <a:t>Motley Fool (Aug 23, 2026): NVDA has by far the lowest trailing P/E vs. AMD, Broadcom and Marvell and trades near the S&amp;P 500 on forward P/E.</a:t>
            </a:r>
            <a:endParaRPr lang="en-US" sz="1100" dirty="0"/>
          </a:p>
        </p:txBody>
      </p:sp>
      <p:sp>
        <p:nvSpPr>
          <p:cNvPr id="8" name="article1"/>
          <p:cNvSpPr/>
          <p:nvPr/>
        </p:nvSpPr>
        <p:spPr>
          <a:xfrm>
            <a:off x="457200" y="1801368"/>
            <a:ext cx="8229600" cy="777240"/>
          </a:xfrm>
          <a:prstGeom prst="roundRect">
            <a:avLst>
              <a:gd name="adj" fmla="val 9412"/>
            </a:avLst>
          </a:prstGeom>
          <a:solidFill>
            <a:srgbClr val="F2F4EF"/>
          </a:solidFill>
          <a:ln w="12700">
            <a:solidFill>
              <a:srgbClr val="F2F4EF"/>
            </a:solidFill>
            <a:prstDash val="solid"/>
          </a:ln>
        </p:spPr>
      </p:sp>
      <p:sp>
        <p:nvSpPr>
          <p:cNvPr id="9" name="Shape 7"/>
          <p:cNvSpPr/>
          <p:nvPr/>
        </p:nvSpPr>
        <p:spPr>
          <a:xfrm>
            <a:off x="594360" y="2020824"/>
            <a:ext cx="868680" cy="338328"/>
          </a:xfrm>
          <a:prstGeom prst="roundRect">
            <a:avLst>
              <a:gd name="adj" fmla="val 16216"/>
            </a:avLst>
          </a:prstGeom>
          <a:solidFill>
            <a:srgbClr val="76B900"/>
          </a:solidFill>
          <a:ln w="12700">
            <a:solidFill>
              <a:srgbClr val="76B900"/>
            </a:solidFill>
            <a:prstDash val="solid"/>
          </a:ln>
        </p:spPr>
      </p:sp>
      <p:sp>
        <p:nvSpPr>
          <p:cNvPr id="10" name="Text 8"/>
          <p:cNvSpPr txBox="1"/>
          <p:nvPr/>
        </p:nvSpPr>
        <p:spPr>
          <a:xfrm>
            <a:off x="594360" y="2020824"/>
            <a:ext cx="868680" cy="338328"/>
          </a:xfrm>
          <a:prstGeom prst="rect">
            <a:avLst/>
          </a:prstGeom>
          <a:noFill/>
          <a:ln/>
        </p:spPr>
        <p:txBody>
          <a:bodyPr wrap="square" lIns="0" tIns="0" rIns="0" bIns="0" rtlCol="0" anchor="ctr"/>
          <a:lstStyle/>
          <a:p>
            <a:pPr algn="ctr" indent="0" marL="0">
              <a:buNone/>
            </a:pPr>
            <a:r>
              <a:rPr lang="en-US" sz="1100" b="1" dirty="0">
                <a:solidFill>
                  <a:srgbClr val="FFFFFF"/>
                </a:solidFill>
              </a:rPr>
              <a:t>NVIDIA</a:t>
            </a:r>
            <a:endParaRPr lang="en-US" sz="1100" dirty="0"/>
          </a:p>
        </p:txBody>
      </p:sp>
      <p:sp>
        <p:nvSpPr>
          <p:cNvPr id="11" name="Text 9"/>
          <p:cNvSpPr txBox="1"/>
          <p:nvPr/>
        </p:nvSpPr>
        <p:spPr>
          <a:xfrm>
            <a:off x="1645920" y="1874520"/>
            <a:ext cx="6858000" cy="274320"/>
          </a:xfrm>
          <a:prstGeom prst="rect">
            <a:avLst/>
          </a:prstGeom>
          <a:noFill/>
          <a:ln/>
        </p:spPr>
        <p:txBody>
          <a:bodyPr wrap="square" lIns="0" tIns="0" rIns="0" bIns="0" rtlCol="0" anchor="ctr"/>
          <a:lstStyle/>
          <a:p>
            <a:pPr indent="0" marL="0">
              <a:buNone/>
            </a:pPr>
            <a:r>
              <a:rPr lang="en-US" sz="1400" b="1" dirty="0">
                <a:solidFill>
                  <a:srgbClr val="1A1A1A"/>
                </a:solidFill>
              </a:rPr>
              <a:t>Margins face pressure</a:t>
            </a:r>
            <a:endParaRPr lang="en-US" sz="1400" dirty="0"/>
          </a:p>
        </p:txBody>
      </p:sp>
      <p:sp>
        <p:nvSpPr>
          <p:cNvPr id="12" name="Text 10"/>
          <p:cNvSpPr txBox="1"/>
          <p:nvPr/>
        </p:nvSpPr>
        <p:spPr>
          <a:xfrm>
            <a:off x="1645920" y="2148840"/>
            <a:ext cx="6858000" cy="384048"/>
          </a:xfrm>
          <a:prstGeom prst="rect">
            <a:avLst/>
          </a:prstGeom>
          <a:noFill/>
          <a:ln/>
        </p:spPr>
        <p:txBody>
          <a:bodyPr wrap="square" lIns="0" tIns="0" rIns="0" bIns="0" rtlCol="0" anchor="t"/>
          <a:lstStyle/>
          <a:p>
            <a:pPr indent="0" marL="0">
              <a:buNone/>
            </a:pPr>
            <a:r>
              <a:rPr lang="en-US" sz="1100" dirty="0">
                <a:solidFill>
                  <a:srgbClr val="5F6B5A"/>
                </a:solidFill>
              </a:rPr>
              <a:t>Rallies.ai (Apr 21, 2026): margins above 70% are under pressure from customers' custom chips (ASICs) and AMD's improving software.</a:t>
            </a:r>
            <a:endParaRPr lang="en-US" sz="1100" dirty="0"/>
          </a:p>
        </p:txBody>
      </p:sp>
      <p:sp>
        <p:nvSpPr>
          <p:cNvPr id="13" name="article2"/>
          <p:cNvSpPr/>
          <p:nvPr/>
        </p:nvSpPr>
        <p:spPr>
          <a:xfrm>
            <a:off x="457200" y="2688336"/>
            <a:ext cx="8229600" cy="777240"/>
          </a:xfrm>
          <a:prstGeom prst="roundRect">
            <a:avLst>
              <a:gd name="adj" fmla="val 9412"/>
            </a:avLst>
          </a:prstGeom>
          <a:solidFill>
            <a:srgbClr val="F2F4EF"/>
          </a:solidFill>
          <a:ln w="12700">
            <a:solidFill>
              <a:srgbClr val="F2F4EF"/>
            </a:solidFill>
            <a:prstDash val="solid"/>
          </a:ln>
        </p:spPr>
      </p:sp>
      <p:sp>
        <p:nvSpPr>
          <p:cNvPr id="14" name="Shape 12"/>
          <p:cNvSpPr/>
          <p:nvPr/>
        </p:nvSpPr>
        <p:spPr>
          <a:xfrm>
            <a:off x="594360" y="2907792"/>
            <a:ext cx="868680" cy="338328"/>
          </a:xfrm>
          <a:prstGeom prst="roundRect">
            <a:avLst>
              <a:gd name="adj" fmla="val 16216"/>
            </a:avLst>
          </a:prstGeom>
          <a:solidFill>
            <a:srgbClr val="C0392B"/>
          </a:solidFill>
          <a:ln w="12700">
            <a:solidFill>
              <a:srgbClr val="C0392B"/>
            </a:solidFill>
            <a:prstDash val="solid"/>
          </a:ln>
        </p:spPr>
      </p:sp>
      <p:sp>
        <p:nvSpPr>
          <p:cNvPr id="15" name="Text 13"/>
          <p:cNvSpPr txBox="1"/>
          <p:nvPr/>
        </p:nvSpPr>
        <p:spPr>
          <a:xfrm>
            <a:off x="594360" y="2907792"/>
            <a:ext cx="868680" cy="338328"/>
          </a:xfrm>
          <a:prstGeom prst="rect">
            <a:avLst/>
          </a:prstGeom>
          <a:noFill/>
          <a:ln/>
        </p:spPr>
        <p:txBody>
          <a:bodyPr wrap="square" lIns="0" tIns="0" rIns="0" bIns="0" rtlCol="0" anchor="ctr"/>
          <a:lstStyle/>
          <a:p>
            <a:pPr algn="ctr" indent="0" marL="0">
              <a:buNone/>
            </a:pPr>
            <a:r>
              <a:rPr lang="en-US" sz="1100" b="1" dirty="0">
                <a:solidFill>
                  <a:srgbClr val="FFFFFF"/>
                </a:solidFill>
              </a:rPr>
              <a:t>AMD</a:t>
            </a:r>
            <a:endParaRPr lang="en-US" sz="1100" dirty="0"/>
          </a:p>
        </p:txBody>
      </p:sp>
      <p:sp>
        <p:nvSpPr>
          <p:cNvPr id="16" name="Text 14"/>
          <p:cNvSpPr txBox="1"/>
          <p:nvPr/>
        </p:nvSpPr>
        <p:spPr>
          <a:xfrm>
            <a:off x="1645920" y="2761488"/>
            <a:ext cx="6858000" cy="274320"/>
          </a:xfrm>
          <a:prstGeom prst="rect">
            <a:avLst/>
          </a:prstGeom>
          <a:noFill/>
          <a:ln/>
        </p:spPr>
        <p:txBody>
          <a:bodyPr wrap="square" lIns="0" tIns="0" rIns="0" bIns="0" rtlCol="0" anchor="ctr"/>
          <a:lstStyle/>
          <a:p>
            <a:pPr indent="0" marL="0">
              <a:buNone/>
            </a:pPr>
            <a:r>
              <a:rPr lang="en-US" sz="1400" b="1" dirty="0">
                <a:solidFill>
                  <a:srgbClr val="1A1A1A"/>
                </a:solidFill>
              </a:rPr>
              <a:t>Growing, but from a smaller base</a:t>
            </a:r>
            <a:endParaRPr lang="en-US" sz="1400" dirty="0"/>
          </a:p>
        </p:txBody>
      </p:sp>
      <p:sp>
        <p:nvSpPr>
          <p:cNvPr id="17" name="Text 15"/>
          <p:cNvSpPr txBox="1"/>
          <p:nvPr/>
        </p:nvSpPr>
        <p:spPr>
          <a:xfrm>
            <a:off x="1645920" y="3035808"/>
            <a:ext cx="6858000" cy="384048"/>
          </a:xfrm>
          <a:prstGeom prst="rect">
            <a:avLst/>
          </a:prstGeom>
          <a:noFill/>
          <a:ln/>
        </p:spPr>
        <p:txBody>
          <a:bodyPr wrap="square" lIns="0" tIns="0" rIns="0" bIns="0" rtlCol="0" anchor="t"/>
          <a:lstStyle/>
          <a:p>
            <a:pPr indent="0" marL="0">
              <a:buNone/>
            </a:pPr>
            <a:r>
              <a:rPr lang="en-US" sz="1100" dirty="0">
                <a:solidFill>
                  <a:srgbClr val="5F6B5A"/>
                </a:solidFill>
              </a:rPr>
              <a:t>Yahoo Finance: AMD's MI450 deals with OpenAI (up to 6 GW) and Meta start in 2026. The stock's high P/E prices in that future growth.</a:t>
            </a:r>
            <a:endParaRPr lang="en-US" sz="1100" dirty="0"/>
          </a:p>
        </p:txBody>
      </p:sp>
      <p:sp>
        <p:nvSpPr>
          <p:cNvPr id="18" name="article3"/>
          <p:cNvSpPr/>
          <p:nvPr/>
        </p:nvSpPr>
        <p:spPr>
          <a:xfrm>
            <a:off x="457200" y="3575304"/>
            <a:ext cx="8229600" cy="777240"/>
          </a:xfrm>
          <a:prstGeom prst="roundRect">
            <a:avLst>
              <a:gd name="adj" fmla="val 9412"/>
            </a:avLst>
          </a:prstGeom>
          <a:solidFill>
            <a:srgbClr val="F2F4EF"/>
          </a:solidFill>
          <a:ln w="12700">
            <a:solidFill>
              <a:srgbClr val="F2F4EF"/>
            </a:solidFill>
            <a:prstDash val="solid"/>
          </a:ln>
        </p:spPr>
      </p:sp>
      <p:sp>
        <p:nvSpPr>
          <p:cNvPr id="19" name="Shape 17"/>
          <p:cNvSpPr/>
          <p:nvPr/>
        </p:nvSpPr>
        <p:spPr>
          <a:xfrm>
            <a:off x="594360" y="3794760"/>
            <a:ext cx="868680" cy="338328"/>
          </a:xfrm>
          <a:prstGeom prst="roundRect">
            <a:avLst>
              <a:gd name="adj" fmla="val 16216"/>
            </a:avLst>
          </a:prstGeom>
          <a:solidFill>
            <a:srgbClr val="2E86C1"/>
          </a:solidFill>
          <a:ln w="12700">
            <a:solidFill>
              <a:srgbClr val="2E86C1"/>
            </a:solidFill>
            <a:prstDash val="solid"/>
          </a:ln>
        </p:spPr>
      </p:sp>
      <p:sp>
        <p:nvSpPr>
          <p:cNvPr id="20" name="Text 18"/>
          <p:cNvSpPr txBox="1"/>
          <p:nvPr/>
        </p:nvSpPr>
        <p:spPr>
          <a:xfrm>
            <a:off x="594360" y="3794760"/>
            <a:ext cx="868680" cy="338328"/>
          </a:xfrm>
          <a:prstGeom prst="rect">
            <a:avLst/>
          </a:prstGeom>
          <a:noFill/>
          <a:ln/>
        </p:spPr>
        <p:txBody>
          <a:bodyPr wrap="square" lIns="0" tIns="0" rIns="0" bIns="0" rtlCol="0" anchor="ctr"/>
          <a:lstStyle/>
          <a:p>
            <a:pPr algn="ctr" indent="0" marL="0">
              <a:buNone/>
            </a:pPr>
            <a:r>
              <a:rPr lang="en-US" sz="1100" b="1" dirty="0">
                <a:solidFill>
                  <a:srgbClr val="FFFFFF"/>
                </a:solidFill>
              </a:rPr>
              <a:t>Intel</a:t>
            </a:r>
            <a:endParaRPr lang="en-US" sz="1100" dirty="0"/>
          </a:p>
        </p:txBody>
      </p:sp>
      <p:sp>
        <p:nvSpPr>
          <p:cNvPr id="21" name="Text 19"/>
          <p:cNvSpPr txBox="1"/>
          <p:nvPr/>
        </p:nvSpPr>
        <p:spPr>
          <a:xfrm>
            <a:off x="1645920" y="3648456"/>
            <a:ext cx="6858000" cy="274320"/>
          </a:xfrm>
          <a:prstGeom prst="rect">
            <a:avLst/>
          </a:prstGeom>
          <a:noFill/>
          <a:ln/>
        </p:spPr>
        <p:txBody>
          <a:bodyPr wrap="square" lIns="0" tIns="0" rIns="0" bIns="0" rtlCol="0" anchor="ctr"/>
          <a:lstStyle/>
          <a:p>
            <a:pPr indent="0" marL="0">
              <a:buNone/>
            </a:pPr>
            <a:r>
              <a:rPr lang="en-US" sz="1400" b="1" dirty="0">
                <a:solidFill>
                  <a:srgbClr val="1A1A1A"/>
                </a:solidFill>
              </a:rPr>
              <a:t>Turnaround still costing money</a:t>
            </a:r>
            <a:endParaRPr lang="en-US" sz="1400" dirty="0"/>
          </a:p>
        </p:txBody>
      </p:sp>
      <p:sp>
        <p:nvSpPr>
          <p:cNvPr id="22" name="Text 20"/>
          <p:cNvSpPr txBox="1"/>
          <p:nvPr/>
        </p:nvSpPr>
        <p:spPr>
          <a:xfrm>
            <a:off x="1645920" y="3922776"/>
            <a:ext cx="6858000" cy="384048"/>
          </a:xfrm>
          <a:prstGeom prst="rect">
            <a:avLst/>
          </a:prstGeom>
          <a:noFill/>
          <a:ln/>
        </p:spPr>
        <p:txBody>
          <a:bodyPr wrap="square" lIns="0" tIns="0" rIns="0" bIns="0" rtlCol="0" anchor="t"/>
          <a:lstStyle/>
          <a:p>
            <a:pPr indent="0" marL="0">
              <a:buNone/>
            </a:pPr>
            <a:r>
              <a:rPr lang="en-US" sz="1100" dirty="0">
                <a:solidFill>
                  <a:srgbClr val="5F6B5A"/>
                </a:solidFill>
              </a:rPr>
              <a:t>24/7 Wall St. (Jul 2, 2026) and SiliconANGLE (Apr 2026): the foundry lost about $10B in 2025, and Intel fell behind early in the AI boom.</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5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800" b="1" dirty="0">
                <a:solidFill>
                  <a:schemeClr val="tx1"/>
                </a:solidFill>
              </a:rPr>
              <a:t>Outside forces: tariffs, China, inflation and oil</a:t>
            </a:r>
            <a:endParaRPr lang="en-US" sz="2800" dirty="0"/>
          </a:p>
        </p:txBody>
      </p:sp>
      <p:sp>
        <p:nvSpPr>
          <p:cNvPr id="3" name="force0"/>
          <p:cNvSpPr/>
          <p:nvPr/>
        </p:nvSpPr>
        <p:spPr>
          <a:xfrm>
            <a:off x="457200" y="914400"/>
            <a:ext cx="4023360" cy="1691640"/>
          </a:xfrm>
          <a:prstGeom prst="roundRect">
            <a:avLst>
              <a:gd name="adj" fmla="val 4324"/>
            </a:avLst>
          </a:prstGeom>
          <a:solidFill>
            <a:srgbClr val="F2F4EF"/>
          </a:solidFill>
          <a:ln w="12700">
            <a:solidFill>
              <a:srgbClr val="F2F4EF"/>
            </a:solidFill>
            <a:prstDash val="solid"/>
          </a:ln>
        </p:spPr>
      </p:sp>
      <p:sp>
        <p:nvSpPr>
          <p:cNvPr id="4" name="Shape 2"/>
          <p:cNvSpPr/>
          <p:nvPr/>
        </p:nvSpPr>
        <p:spPr>
          <a:xfrm>
            <a:off x="594360" y="1024128"/>
            <a:ext cx="292608" cy="292608"/>
          </a:xfrm>
          <a:prstGeom prst="ellipse">
            <a:avLst/>
          </a:prstGeom>
          <a:solidFill>
            <a:srgbClr val="76B900"/>
          </a:solidFill>
          <a:ln w="12700">
            <a:solidFill>
              <a:srgbClr val="76B900"/>
            </a:solidFill>
            <a:prstDash val="solid"/>
          </a:ln>
        </p:spPr>
      </p:sp>
      <p:sp>
        <p:nvSpPr>
          <p:cNvPr id="5" name="Text 3"/>
          <p:cNvSpPr txBox="1"/>
          <p:nvPr/>
        </p:nvSpPr>
        <p:spPr>
          <a:xfrm>
            <a:off x="594360" y="10241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6" name="Text 4"/>
          <p:cNvSpPr txBox="1"/>
          <p:nvPr/>
        </p:nvSpPr>
        <p:spPr>
          <a:xfrm>
            <a:off x="978408" y="1005840"/>
            <a:ext cx="3364992" cy="329184"/>
          </a:xfrm>
          <a:prstGeom prst="rect">
            <a:avLst/>
          </a:prstGeom>
          <a:noFill/>
          <a:ln/>
        </p:spPr>
        <p:txBody>
          <a:bodyPr wrap="square" lIns="0" tIns="0" rIns="0" bIns="0" rtlCol="0" anchor="ctr"/>
          <a:lstStyle/>
          <a:p>
            <a:pPr indent="0" marL="0">
              <a:buNone/>
            </a:pPr>
            <a:r>
              <a:rPr lang="en-US" sz="1500" b="1" dirty="0">
                <a:solidFill>
                  <a:srgbClr val="1A1A1A"/>
                </a:solidFill>
              </a:rPr>
              <a:t>Tariffs</a:t>
            </a:r>
            <a:endParaRPr lang="en-US" sz="1500" dirty="0"/>
          </a:p>
        </p:txBody>
      </p:sp>
      <p:sp>
        <p:nvSpPr>
          <p:cNvPr id="7" name="Text 5"/>
          <p:cNvSpPr txBox="1"/>
          <p:nvPr/>
        </p:nvSpPr>
        <p:spPr>
          <a:xfrm>
            <a:off x="594360" y="1371600"/>
            <a:ext cx="3749040" cy="731520"/>
          </a:xfrm>
          <a:prstGeom prst="rect">
            <a:avLst/>
          </a:prstGeom>
          <a:noFill/>
          <a:ln/>
        </p:spPr>
        <p:txBody>
          <a:bodyPr wrap="square" lIns="0" tIns="0" rIns="0" bIns="0" rtlCol="0" anchor="t"/>
          <a:lstStyle/>
          <a:p>
            <a:pPr indent="0" marL="0">
              <a:buNone/>
            </a:pPr>
            <a:r>
              <a:rPr lang="en-US" sz="1100" dirty="0">
                <a:solidFill>
                  <a:srgbClr val="1A1A1A"/>
                </a:solidFill>
              </a:rPr>
              <a:t>A 25% Section 232 tariff on certain advanced chips, including the H200, started Jan 15, 2026. It mainly applies to chips routed to China; chips for US data centers are exempt.</a:t>
            </a:r>
            <a:endParaRPr lang="en-US" sz="1100" dirty="0"/>
          </a:p>
        </p:txBody>
      </p:sp>
      <p:sp>
        <p:nvSpPr>
          <p:cNvPr id="8" name="Text 6"/>
          <p:cNvSpPr txBox="1"/>
          <p:nvPr/>
        </p:nvSpPr>
        <p:spPr>
          <a:xfrm>
            <a:off x="594360" y="2103120"/>
            <a:ext cx="3749040" cy="228600"/>
          </a:xfrm>
          <a:prstGeom prst="rect">
            <a:avLst/>
          </a:prstGeom>
          <a:noFill/>
          <a:ln/>
        </p:spPr>
        <p:txBody>
          <a:bodyPr wrap="square" lIns="0" tIns="0" rIns="0" bIns="0" rtlCol="0" anchor="ctr"/>
          <a:lstStyle/>
          <a:p>
            <a:pPr indent="0" marL="0">
              <a:buNone/>
            </a:pPr>
            <a:r>
              <a:rPr lang="en-US" sz="1100" b="1" i="1" dirty="0">
                <a:solidFill>
                  <a:srgbClr val="4E7A00"/>
                </a:solidFill>
              </a:rPr>
              <a:t>Low direct impact so far; broader chip tariffs remain a risk</a:t>
            </a:r>
            <a:endParaRPr lang="en-US" sz="1100" dirty="0"/>
          </a:p>
        </p:txBody>
      </p:sp>
      <p:sp>
        <p:nvSpPr>
          <p:cNvPr id="9" name="Text 7"/>
          <p:cNvSpPr txBox="1"/>
          <p:nvPr/>
        </p:nvSpPr>
        <p:spPr>
          <a:xfrm>
            <a:off x="594360" y="2331720"/>
            <a:ext cx="3749040" cy="201168"/>
          </a:xfrm>
          <a:prstGeom prst="rect">
            <a:avLst/>
          </a:prstGeom>
          <a:noFill/>
          <a:ln/>
        </p:spPr>
        <p:txBody>
          <a:bodyPr wrap="square" lIns="0" tIns="0" rIns="0" bIns="0" rtlCol="0" anchor="ctr"/>
          <a:lstStyle/>
          <a:p>
            <a:pPr indent="0" marL="0">
              <a:buNone/>
            </a:pPr>
            <a:r>
              <a:rPr lang="en-US" sz="900" dirty="0">
                <a:solidFill>
                  <a:srgbClr val="5F6B5A"/>
                </a:solidFill>
              </a:rPr>
              <a:t>Axios, Jan 14, 2026; White &amp; Case</a:t>
            </a:r>
            <a:endParaRPr lang="en-US" sz="900" dirty="0"/>
          </a:p>
        </p:txBody>
      </p:sp>
      <p:sp>
        <p:nvSpPr>
          <p:cNvPr id="10" name="force1"/>
          <p:cNvSpPr/>
          <p:nvPr/>
        </p:nvSpPr>
        <p:spPr>
          <a:xfrm>
            <a:off x="4663440" y="914400"/>
            <a:ext cx="4023360" cy="1691640"/>
          </a:xfrm>
          <a:prstGeom prst="roundRect">
            <a:avLst>
              <a:gd name="adj" fmla="val 4324"/>
            </a:avLst>
          </a:prstGeom>
          <a:solidFill>
            <a:srgbClr val="F2F4EF"/>
          </a:solidFill>
          <a:ln w="12700">
            <a:solidFill>
              <a:srgbClr val="F2F4EF"/>
            </a:solidFill>
            <a:prstDash val="solid"/>
          </a:ln>
        </p:spPr>
      </p:sp>
      <p:sp>
        <p:nvSpPr>
          <p:cNvPr id="11" name="Shape 9"/>
          <p:cNvSpPr/>
          <p:nvPr/>
        </p:nvSpPr>
        <p:spPr>
          <a:xfrm>
            <a:off x="4800600" y="1024128"/>
            <a:ext cx="292608" cy="292608"/>
          </a:xfrm>
          <a:prstGeom prst="ellipse">
            <a:avLst/>
          </a:prstGeom>
          <a:solidFill>
            <a:srgbClr val="76B900"/>
          </a:solidFill>
          <a:ln w="12700">
            <a:solidFill>
              <a:srgbClr val="76B900"/>
            </a:solidFill>
            <a:prstDash val="solid"/>
          </a:ln>
        </p:spPr>
      </p:sp>
      <p:sp>
        <p:nvSpPr>
          <p:cNvPr id="12" name="Text 10"/>
          <p:cNvSpPr txBox="1"/>
          <p:nvPr/>
        </p:nvSpPr>
        <p:spPr>
          <a:xfrm>
            <a:off x="4800600" y="10241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ext 11"/>
          <p:cNvSpPr txBox="1"/>
          <p:nvPr/>
        </p:nvSpPr>
        <p:spPr>
          <a:xfrm>
            <a:off x="5184648" y="1005840"/>
            <a:ext cx="3364992" cy="329184"/>
          </a:xfrm>
          <a:prstGeom prst="rect">
            <a:avLst/>
          </a:prstGeom>
          <a:noFill/>
          <a:ln/>
        </p:spPr>
        <p:txBody>
          <a:bodyPr wrap="square" lIns="0" tIns="0" rIns="0" bIns="0" rtlCol="0" anchor="ctr"/>
          <a:lstStyle/>
          <a:p>
            <a:pPr indent="0" marL="0">
              <a:buNone/>
            </a:pPr>
            <a:r>
              <a:rPr lang="en-US" sz="1500" b="1" dirty="0">
                <a:solidFill>
                  <a:srgbClr val="1A1A1A"/>
                </a:solidFill>
              </a:rPr>
              <a:t>China export controls</a:t>
            </a:r>
            <a:endParaRPr lang="en-US" sz="1500" dirty="0"/>
          </a:p>
        </p:txBody>
      </p:sp>
      <p:sp>
        <p:nvSpPr>
          <p:cNvPr id="14" name="Text 12"/>
          <p:cNvSpPr txBox="1"/>
          <p:nvPr/>
        </p:nvSpPr>
        <p:spPr>
          <a:xfrm>
            <a:off x="4800600" y="1371600"/>
            <a:ext cx="3749040" cy="731520"/>
          </a:xfrm>
          <a:prstGeom prst="rect">
            <a:avLst/>
          </a:prstGeom>
          <a:noFill/>
          <a:ln/>
        </p:spPr>
        <p:txBody>
          <a:bodyPr wrap="square" lIns="0" tIns="0" rIns="0" bIns="0" rtlCol="0" anchor="t"/>
          <a:lstStyle/>
          <a:p>
            <a:pPr indent="0" marL="0">
              <a:buNone/>
            </a:pPr>
            <a:r>
              <a:rPr lang="en-US" sz="1100" dirty="0">
                <a:solidFill>
                  <a:srgbClr val="1A1A1A"/>
                </a:solidFill>
              </a:rPr>
              <a:t>Sales of top AI chips to China are restricted. H200 sales to China need a license and carry the 25% tariff. NVIDIA's guidance assumes zero China data-center revenue.</a:t>
            </a:r>
            <a:endParaRPr lang="en-US" sz="1100" dirty="0"/>
          </a:p>
        </p:txBody>
      </p:sp>
      <p:sp>
        <p:nvSpPr>
          <p:cNvPr id="15" name="Text 13"/>
          <p:cNvSpPr txBox="1"/>
          <p:nvPr/>
        </p:nvSpPr>
        <p:spPr>
          <a:xfrm>
            <a:off x="4800600" y="2103120"/>
            <a:ext cx="3749040" cy="228600"/>
          </a:xfrm>
          <a:prstGeom prst="rect">
            <a:avLst/>
          </a:prstGeom>
          <a:noFill/>
          <a:ln/>
        </p:spPr>
        <p:txBody>
          <a:bodyPr wrap="square" lIns="0" tIns="0" rIns="0" bIns="0" rtlCol="0" anchor="ctr"/>
          <a:lstStyle/>
          <a:p>
            <a:pPr indent="0" marL="0">
              <a:buNone/>
            </a:pPr>
            <a:r>
              <a:rPr lang="en-US" sz="1100" b="1" i="1" dirty="0">
                <a:solidFill>
                  <a:srgbClr val="4E7A00"/>
                </a:solidFill>
              </a:rPr>
              <a:t>Lost market, but already priced into guidance</a:t>
            </a:r>
            <a:endParaRPr lang="en-US" sz="1100" dirty="0"/>
          </a:p>
        </p:txBody>
      </p:sp>
      <p:sp>
        <p:nvSpPr>
          <p:cNvPr id="16" name="Text 14"/>
          <p:cNvSpPr txBox="1"/>
          <p:nvPr/>
        </p:nvSpPr>
        <p:spPr>
          <a:xfrm>
            <a:off x="4800600" y="2331720"/>
            <a:ext cx="3749040" cy="201168"/>
          </a:xfrm>
          <a:prstGeom prst="rect">
            <a:avLst/>
          </a:prstGeom>
          <a:noFill/>
          <a:ln/>
        </p:spPr>
        <p:txBody>
          <a:bodyPr wrap="square" lIns="0" tIns="0" rIns="0" bIns="0" rtlCol="0" anchor="ctr"/>
          <a:lstStyle/>
          <a:p>
            <a:pPr indent="0" marL="0">
              <a:buNone/>
            </a:pPr>
            <a:r>
              <a:rPr lang="en-US" sz="900" dirty="0">
                <a:solidFill>
                  <a:srgbClr val="5F6B5A"/>
                </a:solidFill>
              </a:rPr>
              <a:t>CNBC, Feb 26, 2026; NVIDIA 10-Q (Jul 2026)</a:t>
            </a:r>
            <a:endParaRPr lang="en-US" sz="900" dirty="0"/>
          </a:p>
        </p:txBody>
      </p:sp>
      <p:sp>
        <p:nvSpPr>
          <p:cNvPr id="17" name="force2"/>
          <p:cNvSpPr/>
          <p:nvPr/>
        </p:nvSpPr>
        <p:spPr>
          <a:xfrm>
            <a:off x="457200" y="2715768"/>
            <a:ext cx="4023360" cy="1691640"/>
          </a:xfrm>
          <a:prstGeom prst="roundRect">
            <a:avLst>
              <a:gd name="adj" fmla="val 4324"/>
            </a:avLst>
          </a:prstGeom>
          <a:solidFill>
            <a:srgbClr val="F2F4EF"/>
          </a:solidFill>
          <a:ln w="12700">
            <a:solidFill>
              <a:srgbClr val="F2F4EF"/>
            </a:solidFill>
            <a:prstDash val="solid"/>
          </a:ln>
        </p:spPr>
      </p:sp>
      <p:sp>
        <p:nvSpPr>
          <p:cNvPr id="18" name="Shape 16"/>
          <p:cNvSpPr/>
          <p:nvPr/>
        </p:nvSpPr>
        <p:spPr>
          <a:xfrm>
            <a:off x="594360" y="2825496"/>
            <a:ext cx="292608" cy="292608"/>
          </a:xfrm>
          <a:prstGeom prst="ellipse">
            <a:avLst/>
          </a:prstGeom>
          <a:solidFill>
            <a:srgbClr val="76B900"/>
          </a:solidFill>
          <a:ln w="12700">
            <a:solidFill>
              <a:srgbClr val="76B900"/>
            </a:solidFill>
            <a:prstDash val="solid"/>
          </a:ln>
        </p:spPr>
      </p:sp>
      <p:sp>
        <p:nvSpPr>
          <p:cNvPr id="19" name="Text 17"/>
          <p:cNvSpPr txBox="1"/>
          <p:nvPr/>
        </p:nvSpPr>
        <p:spPr>
          <a:xfrm>
            <a:off x="594360" y="282549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0" name="Text 18"/>
          <p:cNvSpPr txBox="1"/>
          <p:nvPr/>
        </p:nvSpPr>
        <p:spPr>
          <a:xfrm>
            <a:off x="978408" y="2807208"/>
            <a:ext cx="3364992" cy="329184"/>
          </a:xfrm>
          <a:prstGeom prst="rect">
            <a:avLst/>
          </a:prstGeom>
          <a:noFill/>
          <a:ln/>
        </p:spPr>
        <p:txBody>
          <a:bodyPr wrap="square" lIns="0" tIns="0" rIns="0" bIns="0" rtlCol="0" anchor="ctr"/>
          <a:lstStyle/>
          <a:p>
            <a:pPr indent="0" marL="0">
              <a:buNone/>
            </a:pPr>
            <a:r>
              <a:rPr lang="en-US" sz="1500" b="1" dirty="0">
                <a:solidFill>
                  <a:srgbClr val="1A1A1A"/>
                </a:solidFill>
              </a:rPr>
              <a:t>Inflation and rates</a:t>
            </a:r>
            <a:endParaRPr lang="en-US" sz="1500" dirty="0"/>
          </a:p>
        </p:txBody>
      </p:sp>
      <p:sp>
        <p:nvSpPr>
          <p:cNvPr id="21" name="Text 19"/>
          <p:cNvSpPr txBox="1"/>
          <p:nvPr/>
        </p:nvSpPr>
        <p:spPr>
          <a:xfrm>
            <a:off x="594360" y="3172968"/>
            <a:ext cx="3749040" cy="731520"/>
          </a:xfrm>
          <a:prstGeom prst="rect">
            <a:avLst/>
          </a:prstGeom>
          <a:noFill/>
          <a:ln/>
        </p:spPr>
        <p:txBody>
          <a:bodyPr wrap="square" lIns="0" tIns="0" rIns="0" bIns="0" rtlCol="0" anchor="t"/>
          <a:lstStyle/>
          <a:p>
            <a:pPr indent="0" marL="0">
              <a:buNone/>
            </a:pPr>
            <a:r>
              <a:rPr lang="en-US" sz="1100" dirty="0">
                <a:solidFill>
                  <a:srgbClr val="1A1A1A"/>
                </a:solidFill>
              </a:rPr>
              <a:t>A hot inflation report on Oct 14, 2026 raised the odds of a Fed rate hike, and AI chip stocks fell. The 10-year Treasury yield passed 5%.</a:t>
            </a:r>
            <a:endParaRPr lang="en-US" sz="1100" dirty="0"/>
          </a:p>
        </p:txBody>
      </p:sp>
      <p:sp>
        <p:nvSpPr>
          <p:cNvPr id="22" name="Text 20"/>
          <p:cNvSpPr txBox="1"/>
          <p:nvPr/>
        </p:nvSpPr>
        <p:spPr>
          <a:xfrm>
            <a:off x="594360" y="3904488"/>
            <a:ext cx="3749040" cy="228600"/>
          </a:xfrm>
          <a:prstGeom prst="rect">
            <a:avLst/>
          </a:prstGeom>
          <a:noFill/>
          <a:ln/>
        </p:spPr>
        <p:txBody>
          <a:bodyPr wrap="square" lIns="0" tIns="0" rIns="0" bIns="0" rtlCol="0" anchor="ctr"/>
          <a:lstStyle/>
          <a:p>
            <a:pPr indent="0" marL="0">
              <a:buNone/>
            </a:pPr>
            <a:r>
              <a:rPr lang="en-US" sz="1100" b="1" i="1" dirty="0">
                <a:solidFill>
                  <a:srgbClr val="4E7A00"/>
                </a:solidFill>
              </a:rPr>
              <a:t>Hurts the stock price more than the business</a:t>
            </a:r>
            <a:endParaRPr lang="en-US" sz="1100" dirty="0"/>
          </a:p>
        </p:txBody>
      </p:sp>
      <p:sp>
        <p:nvSpPr>
          <p:cNvPr id="23" name="Text 21"/>
          <p:cNvSpPr txBox="1"/>
          <p:nvPr/>
        </p:nvSpPr>
        <p:spPr>
          <a:xfrm>
            <a:off x="594360" y="4133088"/>
            <a:ext cx="3749040" cy="201168"/>
          </a:xfrm>
          <a:prstGeom prst="rect">
            <a:avLst/>
          </a:prstGeom>
          <a:noFill/>
          <a:ln/>
        </p:spPr>
        <p:txBody>
          <a:bodyPr wrap="square" lIns="0" tIns="0" rIns="0" bIns="0" rtlCol="0" anchor="ctr"/>
          <a:lstStyle/>
          <a:p>
            <a:pPr indent="0" marL="0">
              <a:buNone/>
            </a:pPr>
            <a:r>
              <a:rPr lang="en-US" sz="900" dirty="0">
                <a:solidFill>
                  <a:srgbClr val="5F6B5A"/>
                </a:solidFill>
              </a:rPr>
              <a:t>CNN, Oct 14, 2026; 24/7 Wall St., Oct 7, 2026</a:t>
            </a:r>
            <a:endParaRPr lang="en-US" sz="900" dirty="0"/>
          </a:p>
        </p:txBody>
      </p:sp>
      <p:sp>
        <p:nvSpPr>
          <p:cNvPr id="24" name="force3"/>
          <p:cNvSpPr/>
          <p:nvPr/>
        </p:nvSpPr>
        <p:spPr>
          <a:xfrm>
            <a:off x="4663440" y="2715768"/>
            <a:ext cx="4023360" cy="1691640"/>
          </a:xfrm>
          <a:prstGeom prst="roundRect">
            <a:avLst>
              <a:gd name="adj" fmla="val 4324"/>
            </a:avLst>
          </a:prstGeom>
          <a:solidFill>
            <a:srgbClr val="F2F4EF"/>
          </a:solidFill>
          <a:ln w="12700">
            <a:solidFill>
              <a:srgbClr val="F2F4EF"/>
            </a:solidFill>
            <a:prstDash val="solid"/>
          </a:ln>
        </p:spPr>
      </p:sp>
      <p:sp>
        <p:nvSpPr>
          <p:cNvPr id="25" name="Shape 23"/>
          <p:cNvSpPr/>
          <p:nvPr/>
        </p:nvSpPr>
        <p:spPr>
          <a:xfrm>
            <a:off x="4800600" y="2825496"/>
            <a:ext cx="292608" cy="292608"/>
          </a:xfrm>
          <a:prstGeom prst="ellipse">
            <a:avLst/>
          </a:prstGeom>
          <a:solidFill>
            <a:srgbClr val="76B900"/>
          </a:solidFill>
          <a:ln w="12700">
            <a:solidFill>
              <a:srgbClr val="76B900"/>
            </a:solidFill>
            <a:prstDash val="solid"/>
          </a:ln>
        </p:spPr>
      </p:sp>
      <p:sp>
        <p:nvSpPr>
          <p:cNvPr id="26" name="Text 24"/>
          <p:cNvSpPr txBox="1"/>
          <p:nvPr/>
        </p:nvSpPr>
        <p:spPr>
          <a:xfrm>
            <a:off x="4800600" y="282549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7" name="Text 25"/>
          <p:cNvSpPr txBox="1"/>
          <p:nvPr/>
        </p:nvSpPr>
        <p:spPr>
          <a:xfrm>
            <a:off x="5184648" y="2807208"/>
            <a:ext cx="3364992" cy="329184"/>
          </a:xfrm>
          <a:prstGeom prst="rect">
            <a:avLst/>
          </a:prstGeom>
          <a:noFill/>
          <a:ln/>
        </p:spPr>
        <p:txBody>
          <a:bodyPr wrap="square" lIns="0" tIns="0" rIns="0" bIns="0" rtlCol="0" anchor="ctr"/>
          <a:lstStyle/>
          <a:p>
            <a:pPr indent="0" marL="0">
              <a:buNone/>
            </a:pPr>
            <a:r>
              <a:rPr lang="en-US" sz="1500" b="1" dirty="0">
                <a:solidFill>
                  <a:srgbClr val="1A1A1A"/>
                </a:solidFill>
              </a:rPr>
              <a:t>Oil prices</a:t>
            </a:r>
            <a:endParaRPr lang="en-US" sz="1500" dirty="0"/>
          </a:p>
        </p:txBody>
      </p:sp>
      <p:sp>
        <p:nvSpPr>
          <p:cNvPr id="28" name="Text 26"/>
          <p:cNvSpPr txBox="1"/>
          <p:nvPr/>
        </p:nvSpPr>
        <p:spPr>
          <a:xfrm>
            <a:off x="4800600" y="3172968"/>
            <a:ext cx="3749040" cy="731520"/>
          </a:xfrm>
          <a:prstGeom prst="rect">
            <a:avLst/>
          </a:prstGeom>
          <a:noFill/>
          <a:ln/>
        </p:spPr>
        <p:txBody>
          <a:bodyPr wrap="square" lIns="0" tIns="0" rIns="0" bIns="0" rtlCol="0" anchor="t"/>
          <a:lstStyle/>
          <a:p>
            <a:pPr indent="0" marL="0">
              <a:buNone/>
            </a:pPr>
            <a:r>
              <a:rPr lang="en-US" sz="1100" dirty="0">
                <a:solidFill>
                  <a:srgbClr val="1A1A1A"/>
                </a:solidFill>
              </a:rPr>
              <a:t>Oil rose sharply in October 2026 on US-Iran tensions. This adds to inflation and keeps rates high. It has little direct cost effect on NVIDIA.</a:t>
            </a:r>
            <a:endParaRPr lang="en-US" sz="1100" dirty="0"/>
          </a:p>
        </p:txBody>
      </p:sp>
      <p:sp>
        <p:nvSpPr>
          <p:cNvPr id="29" name="Text 27"/>
          <p:cNvSpPr txBox="1"/>
          <p:nvPr/>
        </p:nvSpPr>
        <p:spPr>
          <a:xfrm>
            <a:off x="4800600" y="3904488"/>
            <a:ext cx="3749040" cy="228600"/>
          </a:xfrm>
          <a:prstGeom prst="rect">
            <a:avLst/>
          </a:prstGeom>
          <a:noFill/>
          <a:ln/>
        </p:spPr>
        <p:txBody>
          <a:bodyPr wrap="square" lIns="0" tIns="0" rIns="0" bIns="0" rtlCol="0" anchor="ctr"/>
          <a:lstStyle/>
          <a:p>
            <a:pPr indent="0" marL="0">
              <a:buNone/>
            </a:pPr>
            <a:r>
              <a:rPr lang="en-US" sz="1100" b="1" i="1" dirty="0">
                <a:solidFill>
                  <a:srgbClr val="4E7A00"/>
                </a:solidFill>
              </a:rPr>
              <a:t>Indirect: via inflation and rates</a:t>
            </a:r>
            <a:endParaRPr lang="en-US" sz="1100" dirty="0"/>
          </a:p>
        </p:txBody>
      </p:sp>
      <p:sp>
        <p:nvSpPr>
          <p:cNvPr id="30" name="Text 28"/>
          <p:cNvSpPr txBox="1"/>
          <p:nvPr/>
        </p:nvSpPr>
        <p:spPr>
          <a:xfrm>
            <a:off x="4800600" y="4133088"/>
            <a:ext cx="3749040" cy="201168"/>
          </a:xfrm>
          <a:prstGeom prst="rect">
            <a:avLst/>
          </a:prstGeom>
          <a:noFill/>
          <a:ln/>
        </p:spPr>
        <p:txBody>
          <a:bodyPr wrap="square" lIns="0" tIns="0" rIns="0" bIns="0" rtlCol="0" anchor="ctr"/>
          <a:lstStyle/>
          <a:p>
            <a:pPr indent="0" marL="0">
              <a:buNone/>
            </a:pPr>
            <a:r>
              <a:rPr lang="en-US" sz="900" dirty="0">
                <a:solidFill>
                  <a:srgbClr val="5F6B5A"/>
                </a:solidFill>
              </a:rPr>
              <a:t>Yahoo Finance; CNN, Oct 2026</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5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800" b="1" dirty="0">
                <a:solidFill>
                  <a:schemeClr val="tx1"/>
                </a:solidFill>
              </a:rPr>
              <a:t>Annual report (10-K) and latest results</a:t>
            </a:r>
            <a:endParaRPr lang="en-US" sz="2800" dirty="0"/>
          </a:p>
        </p:txBody>
      </p:sp>
      <p:sp>
        <p:nvSpPr>
          <p:cNvPr id="3" name="tenk"/>
          <p:cNvSpPr/>
          <p:nvPr/>
        </p:nvSpPr>
        <p:spPr>
          <a:xfrm>
            <a:off x="457200" y="914400"/>
            <a:ext cx="4023360" cy="3337560"/>
          </a:xfrm>
          <a:prstGeom prst="roundRect">
            <a:avLst>
              <a:gd name="adj" fmla="val 2192"/>
            </a:avLst>
          </a:prstGeom>
          <a:solidFill>
            <a:srgbClr val="F2F4EF"/>
          </a:solidFill>
          <a:ln w="12700">
            <a:solidFill>
              <a:srgbClr val="F2F4EF"/>
            </a:solidFill>
            <a:prstDash val="solid"/>
          </a:ln>
        </p:spPr>
      </p:sp>
      <p:sp>
        <p:nvSpPr>
          <p:cNvPr id="4" name="Text 2"/>
          <p:cNvSpPr txBox="1"/>
          <p:nvPr/>
        </p:nvSpPr>
        <p:spPr>
          <a:xfrm>
            <a:off x="640080" y="1005840"/>
            <a:ext cx="3657600" cy="320040"/>
          </a:xfrm>
          <a:prstGeom prst="rect">
            <a:avLst/>
          </a:prstGeom>
          <a:noFill/>
          <a:ln/>
        </p:spPr>
        <p:txBody>
          <a:bodyPr wrap="square" lIns="0" tIns="0" rIns="0" bIns="0" rtlCol="0" anchor="ctr"/>
          <a:lstStyle/>
          <a:p>
            <a:pPr indent="0" marL="0">
              <a:buNone/>
            </a:pPr>
            <a:r>
              <a:rPr lang="en-US" sz="1500" b="1" dirty="0">
                <a:solidFill>
                  <a:srgbClr val="1A1A1A"/>
                </a:solidFill>
              </a:rPr>
              <a:t>Fiscal 2026 annual report</a:t>
            </a:r>
            <a:endParaRPr lang="en-US" sz="1500" dirty="0"/>
          </a:p>
        </p:txBody>
      </p:sp>
      <p:sp>
        <p:nvSpPr>
          <p:cNvPr id="5" name="Text 3"/>
          <p:cNvSpPr txBox="1"/>
          <p:nvPr/>
        </p:nvSpPr>
        <p:spPr>
          <a:xfrm>
            <a:off x="640080" y="1417320"/>
            <a:ext cx="1463040" cy="411480"/>
          </a:xfrm>
          <a:prstGeom prst="rect">
            <a:avLst/>
          </a:prstGeom>
          <a:noFill/>
          <a:ln/>
        </p:spPr>
        <p:txBody>
          <a:bodyPr wrap="square" lIns="0" tIns="0" rIns="0" bIns="0" rtlCol="0" anchor="ctr"/>
          <a:lstStyle/>
          <a:p>
            <a:pPr indent="0" marL="0">
              <a:buNone/>
            </a:pPr>
            <a:r>
              <a:rPr lang="en-US" sz="2200" b="1" dirty="0">
                <a:solidFill>
                  <a:srgbClr val="76B900"/>
                </a:solidFill>
              </a:rPr>
              <a:t>$215.9B</a:t>
            </a:r>
            <a:endParaRPr lang="en-US" sz="2200" dirty="0"/>
          </a:p>
        </p:txBody>
      </p:sp>
      <p:sp>
        <p:nvSpPr>
          <p:cNvPr id="6" name="Text 4"/>
          <p:cNvSpPr txBox="1"/>
          <p:nvPr/>
        </p:nvSpPr>
        <p:spPr>
          <a:xfrm>
            <a:off x="2148840" y="1417320"/>
            <a:ext cx="2194560" cy="411480"/>
          </a:xfrm>
          <a:prstGeom prst="rect">
            <a:avLst/>
          </a:prstGeom>
          <a:noFill/>
          <a:ln/>
        </p:spPr>
        <p:txBody>
          <a:bodyPr wrap="square" lIns="0" tIns="0" rIns="0" bIns="0" rtlCol="0" anchor="ctr"/>
          <a:lstStyle/>
          <a:p>
            <a:pPr indent="0" marL="0">
              <a:buNone/>
            </a:pPr>
            <a:r>
              <a:rPr lang="en-US" sz="1300" dirty="0">
                <a:solidFill>
                  <a:srgbClr val="1A1A1A"/>
                </a:solidFill>
              </a:rPr>
              <a:t>revenue, +65%</a:t>
            </a:r>
            <a:endParaRPr lang="en-US" sz="1300" dirty="0"/>
          </a:p>
        </p:txBody>
      </p:sp>
      <p:sp>
        <p:nvSpPr>
          <p:cNvPr id="7" name="Text 5"/>
          <p:cNvSpPr txBox="1"/>
          <p:nvPr/>
        </p:nvSpPr>
        <p:spPr>
          <a:xfrm>
            <a:off x="640080" y="1874520"/>
            <a:ext cx="1463040" cy="411480"/>
          </a:xfrm>
          <a:prstGeom prst="rect">
            <a:avLst/>
          </a:prstGeom>
          <a:noFill/>
          <a:ln/>
        </p:spPr>
        <p:txBody>
          <a:bodyPr wrap="square" lIns="0" tIns="0" rIns="0" bIns="0" rtlCol="0" anchor="ctr"/>
          <a:lstStyle/>
          <a:p>
            <a:pPr indent="0" marL="0">
              <a:buNone/>
            </a:pPr>
            <a:r>
              <a:rPr lang="en-US" sz="2200" b="1" dirty="0">
                <a:solidFill>
                  <a:srgbClr val="76B900"/>
                </a:solidFill>
              </a:rPr>
              <a:t>$120.1B</a:t>
            </a:r>
            <a:endParaRPr lang="en-US" sz="2200" dirty="0"/>
          </a:p>
        </p:txBody>
      </p:sp>
      <p:sp>
        <p:nvSpPr>
          <p:cNvPr id="8" name="Text 6"/>
          <p:cNvSpPr txBox="1"/>
          <p:nvPr/>
        </p:nvSpPr>
        <p:spPr>
          <a:xfrm>
            <a:off x="2148840" y="1874520"/>
            <a:ext cx="2194560" cy="411480"/>
          </a:xfrm>
          <a:prstGeom prst="rect">
            <a:avLst/>
          </a:prstGeom>
          <a:noFill/>
          <a:ln/>
        </p:spPr>
        <p:txBody>
          <a:bodyPr wrap="square" lIns="0" tIns="0" rIns="0" bIns="0" rtlCol="0" anchor="ctr"/>
          <a:lstStyle/>
          <a:p>
            <a:pPr indent="0" marL="0">
              <a:buNone/>
            </a:pPr>
            <a:r>
              <a:rPr lang="en-US" sz="1300" dirty="0">
                <a:solidFill>
                  <a:srgbClr val="1A1A1A"/>
                </a:solidFill>
              </a:rPr>
              <a:t>net income</a:t>
            </a:r>
            <a:endParaRPr lang="en-US" sz="1300" dirty="0"/>
          </a:p>
        </p:txBody>
      </p:sp>
      <p:sp>
        <p:nvSpPr>
          <p:cNvPr id="9" name="Text 7"/>
          <p:cNvSpPr txBox="1"/>
          <p:nvPr/>
        </p:nvSpPr>
        <p:spPr>
          <a:xfrm>
            <a:off x="640080" y="2331720"/>
            <a:ext cx="1463040" cy="411480"/>
          </a:xfrm>
          <a:prstGeom prst="rect">
            <a:avLst/>
          </a:prstGeom>
          <a:noFill/>
          <a:ln/>
        </p:spPr>
        <p:txBody>
          <a:bodyPr wrap="square" lIns="0" tIns="0" rIns="0" bIns="0" rtlCol="0" anchor="ctr"/>
          <a:lstStyle/>
          <a:p>
            <a:pPr indent="0" marL="0">
              <a:buNone/>
            </a:pPr>
            <a:r>
              <a:rPr lang="en-US" sz="2200" b="1" dirty="0">
                <a:solidFill>
                  <a:srgbClr val="76B900"/>
                </a:solidFill>
              </a:rPr>
              <a:t>$18.5B</a:t>
            </a:r>
            <a:endParaRPr lang="en-US" sz="2200" dirty="0"/>
          </a:p>
        </p:txBody>
      </p:sp>
      <p:sp>
        <p:nvSpPr>
          <p:cNvPr id="10" name="Text 8"/>
          <p:cNvSpPr txBox="1"/>
          <p:nvPr/>
        </p:nvSpPr>
        <p:spPr>
          <a:xfrm>
            <a:off x="2148840" y="2331720"/>
            <a:ext cx="2194560" cy="411480"/>
          </a:xfrm>
          <a:prstGeom prst="rect">
            <a:avLst/>
          </a:prstGeom>
          <a:noFill/>
          <a:ln/>
        </p:spPr>
        <p:txBody>
          <a:bodyPr wrap="square" lIns="0" tIns="0" rIns="0" bIns="0" rtlCol="0" anchor="ctr"/>
          <a:lstStyle/>
          <a:p>
            <a:pPr indent="0" marL="0">
              <a:buNone/>
            </a:pPr>
            <a:r>
              <a:rPr lang="en-US" sz="1300" dirty="0">
                <a:solidFill>
                  <a:srgbClr val="1A1A1A"/>
                </a:solidFill>
              </a:rPr>
              <a:t>R&amp;D, +43%</a:t>
            </a:r>
            <a:endParaRPr lang="en-US" sz="1300" dirty="0"/>
          </a:p>
        </p:txBody>
      </p:sp>
      <p:sp>
        <p:nvSpPr>
          <p:cNvPr id="11" name="Text 9"/>
          <p:cNvSpPr txBox="1"/>
          <p:nvPr/>
        </p:nvSpPr>
        <p:spPr>
          <a:xfrm>
            <a:off x="640080" y="2880360"/>
            <a:ext cx="3657600" cy="12801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A1A1A"/>
                </a:solidFill>
              </a:rPr>
              <a:t>Free cash flow of $96.7B funds growth, buybacks and investments</a:t>
            </a:r>
            <a:endParaRPr lang="en-US" sz="1200" dirty="0"/>
          </a:p>
          <a:p>
            <a:pPr marL="177800" indent="-177800">
              <a:spcAft>
                <a:spcPts val="600"/>
              </a:spcAft>
              <a:buSzPct val="100000"/>
              <a:buChar char="•"/>
            </a:pPr>
            <a:r>
              <a:rPr lang="en-US" sz="1200" dirty="0">
                <a:solidFill>
                  <a:srgbClr val="1A1A1A"/>
                </a:solidFill>
              </a:rPr>
              <a:t>Risks NVIDIA itself lists: export controls, reliance on outside chip makers, and supply commitments</a:t>
            </a:r>
            <a:endParaRPr lang="en-US" sz="1200" dirty="0"/>
          </a:p>
        </p:txBody>
      </p:sp>
      <p:sp>
        <p:nvSpPr>
          <p:cNvPr id="12" name="q2"/>
          <p:cNvSpPr/>
          <p:nvPr/>
        </p:nvSpPr>
        <p:spPr>
          <a:xfrm>
            <a:off x="4663440" y="914400"/>
            <a:ext cx="4023360" cy="3337560"/>
          </a:xfrm>
          <a:prstGeom prst="roundRect">
            <a:avLst>
              <a:gd name="adj" fmla="val 2192"/>
            </a:avLst>
          </a:prstGeom>
          <a:solidFill>
            <a:srgbClr val="F2F4EF"/>
          </a:solidFill>
          <a:ln w="12700">
            <a:solidFill>
              <a:srgbClr val="F2F4EF"/>
            </a:solidFill>
            <a:prstDash val="solid"/>
          </a:ln>
        </p:spPr>
      </p:sp>
      <p:sp>
        <p:nvSpPr>
          <p:cNvPr id="13" name="Text 11"/>
          <p:cNvSpPr txBox="1"/>
          <p:nvPr/>
        </p:nvSpPr>
        <p:spPr>
          <a:xfrm>
            <a:off x="4846320" y="1005840"/>
            <a:ext cx="3657600" cy="320040"/>
          </a:xfrm>
          <a:prstGeom prst="rect">
            <a:avLst/>
          </a:prstGeom>
          <a:noFill/>
          <a:ln/>
        </p:spPr>
        <p:txBody>
          <a:bodyPr wrap="square" lIns="0" tIns="0" rIns="0" bIns="0" rtlCol="0" anchor="ctr"/>
          <a:lstStyle/>
          <a:p>
            <a:pPr indent="0" marL="0">
              <a:buNone/>
            </a:pPr>
            <a:r>
              <a:rPr lang="en-US" sz="1500" b="1" dirty="0">
                <a:solidFill>
                  <a:srgbClr val="1A1A1A"/>
                </a:solidFill>
              </a:rPr>
              <a:t>Q2 fiscal 2027 (quarter to Jul 26, 2026)</a:t>
            </a:r>
            <a:endParaRPr lang="en-US" sz="1500" dirty="0"/>
          </a:p>
        </p:txBody>
      </p:sp>
      <p:sp>
        <p:nvSpPr>
          <p:cNvPr id="14" name="Text 12"/>
          <p:cNvSpPr txBox="1"/>
          <p:nvPr/>
        </p:nvSpPr>
        <p:spPr>
          <a:xfrm>
            <a:off x="4846320" y="1417320"/>
            <a:ext cx="1463040" cy="411480"/>
          </a:xfrm>
          <a:prstGeom prst="rect">
            <a:avLst/>
          </a:prstGeom>
          <a:noFill/>
          <a:ln/>
        </p:spPr>
        <p:txBody>
          <a:bodyPr wrap="square" lIns="0" tIns="0" rIns="0" bIns="0" rtlCol="0" anchor="ctr"/>
          <a:lstStyle/>
          <a:p>
            <a:pPr indent="0" marL="0">
              <a:buNone/>
            </a:pPr>
            <a:r>
              <a:rPr lang="en-US" sz="2200" b="1" dirty="0">
                <a:solidFill>
                  <a:srgbClr val="76B900"/>
                </a:solidFill>
              </a:rPr>
              <a:t>$96.2B</a:t>
            </a:r>
            <a:endParaRPr lang="en-US" sz="2200" dirty="0"/>
          </a:p>
        </p:txBody>
      </p:sp>
      <p:sp>
        <p:nvSpPr>
          <p:cNvPr id="15" name="Text 13"/>
          <p:cNvSpPr txBox="1"/>
          <p:nvPr/>
        </p:nvSpPr>
        <p:spPr>
          <a:xfrm>
            <a:off x="6355080" y="1417320"/>
            <a:ext cx="2194560" cy="411480"/>
          </a:xfrm>
          <a:prstGeom prst="rect">
            <a:avLst/>
          </a:prstGeom>
          <a:noFill/>
          <a:ln/>
        </p:spPr>
        <p:txBody>
          <a:bodyPr wrap="square" lIns="0" tIns="0" rIns="0" bIns="0" rtlCol="0" anchor="ctr"/>
          <a:lstStyle/>
          <a:p>
            <a:pPr indent="0" marL="0">
              <a:buNone/>
            </a:pPr>
            <a:r>
              <a:rPr lang="en-US" sz="1300" dirty="0">
                <a:solidFill>
                  <a:srgbClr val="1A1A1A"/>
                </a:solidFill>
              </a:rPr>
              <a:t>revenue, +106%</a:t>
            </a:r>
            <a:endParaRPr lang="en-US" sz="1300" dirty="0"/>
          </a:p>
        </p:txBody>
      </p:sp>
      <p:sp>
        <p:nvSpPr>
          <p:cNvPr id="16" name="Text 14"/>
          <p:cNvSpPr txBox="1"/>
          <p:nvPr/>
        </p:nvSpPr>
        <p:spPr>
          <a:xfrm>
            <a:off x="4846320" y="1874520"/>
            <a:ext cx="1463040" cy="411480"/>
          </a:xfrm>
          <a:prstGeom prst="rect">
            <a:avLst/>
          </a:prstGeom>
          <a:noFill/>
          <a:ln/>
        </p:spPr>
        <p:txBody>
          <a:bodyPr wrap="square" lIns="0" tIns="0" rIns="0" bIns="0" rtlCol="0" anchor="ctr"/>
          <a:lstStyle/>
          <a:p>
            <a:pPr indent="0" marL="0">
              <a:buNone/>
            </a:pPr>
            <a:r>
              <a:rPr lang="en-US" sz="2200" b="1" dirty="0">
                <a:solidFill>
                  <a:srgbClr val="76B900"/>
                </a:solidFill>
              </a:rPr>
              <a:t>$89.0B</a:t>
            </a:r>
            <a:endParaRPr lang="en-US" sz="2200" dirty="0"/>
          </a:p>
        </p:txBody>
      </p:sp>
      <p:sp>
        <p:nvSpPr>
          <p:cNvPr id="17" name="Text 15"/>
          <p:cNvSpPr txBox="1"/>
          <p:nvPr/>
        </p:nvSpPr>
        <p:spPr>
          <a:xfrm>
            <a:off x="6355080" y="1874520"/>
            <a:ext cx="2194560" cy="411480"/>
          </a:xfrm>
          <a:prstGeom prst="rect">
            <a:avLst/>
          </a:prstGeom>
          <a:noFill/>
          <a:ln/>
        </p:spPr>
        <p:txBody>
          <a:bodyPr wrap="square" lIns="0" tIns="0" rIns="0" bIns="0" rtlCol="0" anchor="ctr"/>
          <a:lstStyle/>
          <a:p>
            <a:pPr indent="0" marL="0">
              <a:buNone/>
            </a:pPr>
            <a:r>
              <a:rPr lang="en-US" sz="1300" dirty="0">
                <a:solidFill>
                  <a:srgbClr val="1A1A1A"/>
                </a:solidFill>
              </a:rPr>
              <a:t>data center, +117%</a:t>
            </a:r>
            <a:endParaRPr lang="en-US" sz="1300" dirty="0"/>
          </a:p>
        </p:txBody>
      </p:sp>
      <p:sp>
        <p:nvSpPr>
          <p:cNvPr id="18" name="Text 16"/>
          <p:cNvSpPr txBox="1"/>
          <p:nvPr/>
        </p:nvSpPr>
        <p:spPr>
          <a:xfrm>
            <a:off x="4846320" y="2331720"/>
            <a:ext cx="1463040" cy="411480"/>
          </a:xfrm>
          <a:prstGeom prst="rect">
            <a:avLst/>
          </a:prstGeom>
          <a:noFill/>
          <a:ln/>
        </p:spPr>
        <p:txBody>
          <a:bodyPr wrap="square" lIns="0" tIns="0" rIns="0" bIns="0" rtlCol="0" anchor="ctr"/>
          <a:lstStyle/>
          <a:p>
            <a:pPr indent="0" marL="0">
              <a:buNone/>
            </a:pPr>
            <a:r>
              <a:rPr lang="en-US" sz="2200" b="1" dirty="0">
                <a:solidFill>
                  <a:srgbClr val="76B900"/>
                </a:solidFill>
              </a:rPr>
              <a:t>75.0%</a:t>
            </a:r>
            <a:endParaRPr lang="en-US" sz="2200" dirty="0"/>
          </a:p>
        </p:txBody>
      </p:sp>
      <p:sp>
        <p:nvSpPr>
          <p:cNvPr id="19" name="Text 17"/>
          <p:cNvSpPr txBox="1"/>
          <p:nvPr/>
        </p:nvSpPr>
        <p:spPr>
          <a:xfrm>
            <a:off x="6355080" y="2331720"/>
            <a:ext cx="2194560" cy="411480"/>
          </a:xfrm>
          <a:prstGeom prst="rect">
            <a:avLst/>
          </a:prstGeom>
          <a:noFill/>
          <a:ln/>
        </p:spPr>
        <p:txBody>
          <a:bodyPr wrap="square" lIns="0" tIns="0" rIns="0" bIns="0" rtlCol="0" anchor="ctr"/>
          <a:lstStyle/>
          <a:p>
            <a:pPr indent="0" marL="0">
              <a:buNone/>
            </a:pPr>
            <a:r>
              <a:rPr lang="en-US" sz="1300" dirty="0">
                <a:solidFill>
                  <a:srgbClr val="1A1A1A"/>
                </a:solidFill>
              </a:rPr>
              <a:t>gross margin</a:t>
            </a:r>
            <a:endParaRPr lang="en-US" sz="1300" dirty="0"/>
          </a:p>
        </p:txBody>
      </p:sp>
      <p:sp>
        <p:nvSpPr>
          <p:cNvPr id="20" name="Text 18"/>
          <p:cNvSpPr txBox="1"/>
          <p:nvPr/>
        </p:nvSpPr>
        <p:spPr>
          <a:xfrm>
            <a:off x="4846320" y="2788920"/>
            <a:ext cx="1463040" cy="411480"/>
          </a:xfrm>
          <a:prstGeom prst="rect">
            <a:avLst/>
          </a:prstGeom>
          <a:noFill/>
          <a:ln/>
        </p:spPr>
        <p:txBody>
          <a:bodyPr wrap="square" lIns="0" tIns="0" rIns="0" bIns="0" rtlCol="0" anchor="ctr"/>
          <a:lstStyle/>
          <a:p>
            <a:pPr indent="0" marL="0">
              <a:buNone/>
            </a:pPr>
            <a:r>
              <a:rPr lang="en-US" sz="2200" b="1" dirty="0">
                <a:solidFill>
                  <a:srgbClr val="76B900"/>
                </a:solidFill>
              </a:rPr>
              <a:t>$108B</a:t>
            </a:r>
            <a:endParaRPr lang="en-US" sz="2200" dirty="0"/>
          </a:p>
        </p:txBody>
      </p:sp>
      <p:sp>
        <p:nvSpPr>
          <p:cNvPr id="21" name="Text 19"/>
          <p:cNvSpPr txBox="1"/>
          <p:nvPr/>
        </p:nvSpPr>
        <p:spPr>
          <a:xfrm>
            <a:off x="6355080" y="2788920"/>
            <a:ext cx="2194560" cy="411480"/>
          </a:xfrm>
          <a:prstGeom prst="rect">
            <a:avLst/>
          </a:prstGeom>
          <a:noFill/>
          <a:ln/>
        </p:spPr>
        <p:txBody>
          <a:bodyPr wrap="square" lIns="0" tIns="0" rIns="0" bIns="0" rtlCol="0" anchor="ctr"/>
          <a:lstStyle/>
          <a:p>
            <a:pPr indent="0" marL="0">
              <a:buNone/>
            </a:pPr>
            <a:r>
              <a:rPr lang="en-US" sz="1300" dirty="0">
                <a:solidFill>
                  <a:srgbClr val="1A1A1A"/>
                </a:solidFill>
              </a:rPr>
              <a:t>Q3 guidance (no China)</a:t>
            </a:r>
            <a:endParaRPr lang="en-US" sz="1300" dirty="0"/>
          </a:p>
        </p:txBody>
      </p:sp>
      <p:sp>
        <p:nvSpPr>
          <p:cNvPr id="22" name="Text 20"/>
          <p:cNvSpPr txBox="1"/>
          <p:nvPr/>
        </p:nvSpPr>
        <p:spPr>
          <a:xfrm>
            <a:off x="4846320" y="3429000"/>
            <a:ext cx="3657600" cy="868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A1A1A"/>
                </a:solidFill>
              </a:rPr>
              <a:t>Vera Rubin platform is ramping; growth is limited by supply, not demand</a:t>
            </a:r>
            <a:endParaRPr lang="en-US" sz="1200" dirty="0"/>
          </a:p>
        </p:txBody>
      </p:sp>
      <p:sp>
        <p:nvSpPr>
          <p:cNvPr id="23" name="Text 21"/>
          <p:cNvSpPr txBox="1"/>
          <p:nvPr/>
        </p:nvSpPr>
        <p:spPr>
          <a:xfrm>
            <a:off x="457200" y="4498848"/>
            <a:ext cx="8229600" cy="292608"/>
          </a:xfrm>
          <a:prstGeom prst="rect">
            <a:avLst/>
          </a:prstGeom>
          <a:noFill/>
          <a:ln/>
        </p:spPr>
        <p:txBody>
          <a:bodyPr wrap="square" lIns="0" tIns="0" rIns="0" bIns="0" rtlCol="0" anchor="t"/>
          <a:lstStyle/>
          <a:p>
            <a:pPr indent="0" marL="0">
              <a:buNone/>
            </a:pPr>
            <a:r>
              <a:rPr lang="en-US" sz="900" dirty="0">
                <a:solidFill>
                  <a:srgbClr val="5F6B5A"/>
                </a:solidFill>
              </a:rPr>
              <a:t>Sources: NVIDIA Form 10-K, fiscal year ended Jan 25, 2026; NVIDIA Q2 FY2027 press release (Aug 26, 2026) and Form 10-Q (Jul 26, 2026).</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5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4000" b="1" dirty="0">
                <a:solidFill>
                  <a:srgbClr val="76B900"/>
                </a:solidFill>
              </a:rPr>
              <a:t>Recommendation: BUY</a:t>
            </a:r>
            <a:endParaRPr lang="en-US" sz="4000" dirty="0"/>
          </a:p>
        </p:txBody>
      </p:sp>
      <p:sp>
        <p:nvSpPr>
          <p:cNvPr id="3" name="Text 1"/>
          <p:cNvSpPr txBox="1"/>
          <p:nvPr/>
        </p:nvSpPr>
        <p:spPr>
          <a:xfrm>
            <a:off x="548640" y="1051560"/>
            <a:ext cx="8046720" cy="365760"/>
          </a:xfrm>
          <a:prstGeom prst="rect">
            <a:avLst/>
          </a:prstGeom>
          <a:noFill/>
          <a:ln/>
        </p:spPr>
        <p:txBody>
          <a:bodyPr wrap="square" lIns="0" tIns="0" rIns="0" bIns="0" rtlCol="0" anchor="ctr"/>
          <a:lstStyle/>
          <a:p>
            <a:pPr indent="0" marL="0">
              <a:buNone/>
            </a:pPr>
            <a:r>
              <a:rPr lang="en-US" sz="1600" dirty="0">
                <a:solidFill>
                  <a:srgbClr val="C8D0C4"/>
                </a:solidFill>
              </a:rPr>
              <a:t>Long-term buy-and-hold; size the position for volatility</a:t>
            </a:r>
            <a:endParaRPr lang="en-US" sz="1600" dirty="0"/>
          </a:p>
        </p:txBody>
      </p:sp>
      <p:sp>
        <p:nvSpPr>
          <p:cNvPr id="4" name="Shape 2"/>
          <p:cNvSpPr/>
          <p:nvPr/>
        </p:nvSpPr>
        <p:spPr>
          <a:xfrm>
            <a:off x="548640" y="1645920"/>
            <a:ext cx="3886200" cy="2377440"/>
          </a:xfrm>
          <a:prstGeom prst="roundRect">
            <a:avLst>
              <a:gd name="adj" fmla="val 3077"/>
            </a:avLst>
          </a:prstGeom>
          <a:solidFill>
            <a:srgbClr val="222222"/>
          </a:solidFill>
          <a:ln w="12700">
            <a:solidFill>
              <a:srgbClr val="222222"/>
            </a:solidFill>
            <a:prstDash val="solid"/>
          </a:ln>
        </p:spPr>
      </p:sp>
      <p:sp>
        <p:nvSpPr>
          <p:cNvPr id="5" name="Text 3"/>
          <p:cNvSpPr txBox="1"/>
          <p:nvPr/>
        </p:nvSpPr>
        <p:spPr>
          <a:xfrm>
            <a:off x="731520" y="1755648"/>
            <a:ext cx="3520440" cy="365760"/>
          </a:xfrm>
          <a:prstGeom prst="rect">
            <a:avLst/>
          </a:prstGeom>
          <a:noFill/>
          <a:ln/>
        </p:spPr>
        <p:txBody>
          <a:bodyPr wrap="square" lIns="0" tIns="0" rIns="0" bIns="0" rtlCol="0" anchor="ctr"/>
          <a:lstStyle/>
          <a:p>
            <a:pPr indent="0" marL="0">
              <a:buNone/>
            </a:pPr>
            <a:r>
              <a:rPr lang="en-US" sz="1600" b="1" dirty="0">
                <a:solidFill>
                  <a:srgbClr val="76B900"/>
                </a:solidFill>
              </a:rPr>
              <a:t>Why buy</a:t>
            </a:r>
            <a:endParaRPr lang="en-US" sz="1600" dirty="0"/>
          </a:p>
        </p:txBody>
      </p:sp>
      <p:sp>
        <p:nvSpPr>
          <p:cNvPr id="6" name="Text 4"/>
          <p:cNvSpPr txBox="1"/>
          <p:nvPr/>
        </p:nvSpPr>
        <p:spPr>
          <a:xfrm>
            <a:off x="731520" y="2194560"/>
            <a:ext cx="3520440"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FFFFFF"/>
                </a:solidFill>
              </a:rPr>
              <a:t>Lowest P/E in the group (27.5x; 18x forward) with the best margins</a:t>
            </a:r>
            <a:endParaRPr lang="en-US" sz="1400" dirty="0"/>
          </a:p>
          <a:p>
            <a:pPr marL="177800" indent="-177800">
              <a:spcAft>
                <a:spcPts val="600"/>
              </a:spcAft>
              <a:buSzPct val="100000"/>
              <a:buChar char="•"/>
            </a:pPr>
            <a:r>
              <a:rPr lang="en-US" sz="1400" dirty="0">
                <a:solidFill>
                  <a:srgbClr val="FFFFFF"/>
                </a:solidFill>
              </a:rPr>
              <a:t>Revenue up 8x and net income up 12x in five years</a:t>
            </a:r>
            <a:endParaRPr lang="en-US" sz="1400" dirty="0"/>
          </a:p>
          <a:p>
            <a:pPr marL="177800" indent="-177800">
              <a:spcAft>
                <a:spcPts val="600"/>
              </a:spcAft>
              <a:buSzPct val="100000"/>
              <a:buChar char="•"/>
            </a:pPr>
            <a:r>
              <a:rPr lang="en-US" sz="1400" dirty="0">
                <a:solidFill>
                  <a:srgbClr val="FFFFFF"/>
                </a:solidFill>
              </a:rPr>
              <a:t>$96.7B free cash flow and very little debt</a:t>
            </a:r>
            <a:endParaRPr lang="en-US" sz="1400" dirty="0"/>
          </a:p>
          <a:p>
            <a:pPr marL="177800" indent="-177800">
              <a:spcAft>
                <a:spcPts val="600"/>
              </a:spcAft>
              <a:buSzPct val="100000"/>
              <a:buChar char="•"/>
            </a:pPr>
            <a:r>
              <a:rPr lang="en-US" sz="1400" dirty="0">
                <a:solidFill>
                  <a:srgbClr val="FFFFFF"/>
                </a:solidFill>
              </a:rPr>
              <a:t>Latest quarter still growing over 100%</a:t>
            </a:r>
            <a:endParaRPr lang="en-US" sz="1400" dirty="0"/>
          </a:p>
        </p:txBody>
      </p:sp>
      <p:sp>
        <p:nvSpPr>
          <p:cNvPr id="7" name="Shape 5"/>
          <p:cNvSpPr/>
          <p:nvPr/>
        </p:nvSpPr>
        <p:spPr>
          <a:xfrm>
            <a:off x="4709160" y="1645920"/>
            <a:ext cx="3886200" cy="2377440"/>
          </a:xfrm>
          <a:prstGeom prst="roundRect">
            <a:avLst>
              <a:gd name="adj" fmla="val 3077"/>
            </a:avLst>
          </a:prstGeom>
          <a:solidFill>
            <a:srgbClr val="222222"/>
          </a:solidFill>
          <a:ln w="12700">
            <a:solidFill>
              <a:srgbClr val="222222"/>
            </a:solidFill>
            <a:prstDash val="solid"/>
          </a:ln>
        </p:spPr>
      </p:sp>
      <p:sp>
        <p:nvSpPr>
          <p:cNvPr id="8" name="Text 6"/>
          <p:cNvSpPr txBox="1"/>
          <p:nvPr/>
        </p:nvSpPr>
        <p:spPr>
          <a:xfrm>
            <a:off x="4892040" y="1755648"/>
            <a:ext cx="3520440" cy="365760"/>
          </a:xfrm>
          <a:prstGeom prst="rect">
            <a:avLst/>
          </a:prstGeom>
          <a:noFill/>
          <a:ln/>
        </p:spPr>
        <p:txBody>
          <a:bodyPr wrap="square" lIns="0" tIns="0" rIns="0" bIns="0" rtlCol="0" anchor="ctr"/>
          <a:lstStyle/>
          <a:p>
            <a:pPr indent="0" marL="0">
              <a:buNone/>
            </a:pPr>
            <a:r>
              <a:rPr lang="en-US" sz="1600" b="1" dirty="0">
                <a:solidFill>
                  <a:srgbClr val="F2B134"/>
                </a:solidFill>
              </a:rPr>
              <a:t>Risks to watch</a:t>
            </a:r>
            <a:endParaRPr lang="en-US" sz="1600" dirty="0"/>
          </a:p>
        </p:txBody>
      </p:sp>
      <p:sp>
        <p:nvSpPr>
          <p:cNvPr id="9" name="Text 7"/>
          <p:cNvSpPr txBox="1"/>
          <p:nvPr/>
        </p:nvSpPr>
        <p:spPr>
          <a:xfrm>
            <a:off x="4892040" y="2194560"/>
            <a:ext cx="3520440"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FFFFFF"/>
                </a:solidFill>
              </a:rPr>
              <a:t>Rising rates and inflation hit growth stocks</a:t>
            </a:r>
            <a:endParaRPr lang="en-US" sz="1400" dirty="0"/>
          </a:p>
          <a:p>
            <a:pPr marL="177800" indent="-177800">
              <a:spcAft>
                <a:spcPts val="600"/>
              </a:spcAft>
              <a:buSzPct val="100000"/>
              <a:buChar char="•"/>
            </a:pPr>
            <a:r>
              <a:rPr lang="en-US" sz="1400" dirty="0">
                <a:solidFill>
                  <a:srgbClr val="FFFFFF"/>
                </a:solidFill>
              </a:rPr>
              <a:t>Custom chips and AMD may pressure margins</a:t>
            </a:r>
            <a:endParaRPr lang="en-US" sz="1400" dirty="0"/>
          </a:p>
          <a:p>
            <a:pPr marL="177800" indent="-177800">
              <a:spcAft>
                <a:spcPts val="600"/>
              </a:spcAft>
              <a:buSzPct val="100000"/>
              <a:buChar char="•"/>
            </a:pPr>
            <a:r>
              <a:rPr lang="en-US" sz="1400" dirty="0">
                <a:solidFill>
                  <a:srgbClr val="FFFFFF"/>
                </a:solidFill>
              </a:rPr>
              <a:t>China, export controls and tariffs</a:t>
            </a:r>
            <a:endParaRPr lang="en-US" sz="1400" dirty="0"/>
          </a:p>
          <a:p>
            <a:pPr marL="177800" indent="-177800">
              <a:spcAft>
                <a:spcPts val="600"/>
              </a:spcAft>
              <a:buSzPct val="100000"/>
              <a:buChar char="•"/>
            </a:pPr>
            <a:r>
              <a:rPr lang="en-US" sz="1400" dirty="0">
                <a:solidFill>
                  <a:srgbClr val="FFFFFF"/>
                </a:solidFill>
              </a:rPr>
              <a:t>Large inventory and supply commitments</a:t>
            </a:r>
            <a:endParaRPr lang="en-US" sz="1400" dirty="0"/>
          </a:p>
        </p:txBody>
      </p:sp>
      <p:sp>
        <p:nvSpPr>
          <p:cNvPr id="10" name="Text 8"/>
          <p:cNvSpPr txBox="1"/>
          <p:nvPr/>
        </p:nvSpPr>
        <p:spPr>
          <a:xfrm>
            <a:off x="548640" y="4206240"/>
            <a:ext cx="8046720" cy="457200"/>
          </a:xfrm>
          <a:prstGeom prst="rect">
            <a:avLst/>
          </a:prstGeom>
          <a:noFill/>
          <a:ln/>
        </p:spPr>
        <p:txBody>
          <a:bodyPr wrap="square" lIns="0" tIns="0" rIns="0" bIns="0" rtlCol="0" anchor="t"/>
          <a:lstStyle/>
          <a:p>
            <a:pPr indent="0" marL="0">
              <a:buNone/>
            </a:pPr>
            <a:r>
              <a:rPr lang="en-US" sz="1300" i="1" dirty="0">
                <a:solidFill>
                  <a:srgbClr val="C8D0C4"/>
                </a:solidFill>
              </a:rPr>
              <a:t>Would switch to SELL if: gross margin falls well below 70%, data-center growth stalls, or inventory grows much faster than sales</a:t>
            </a:r>
            <a:endParaRPr lang="en-US" sz="1300" dirty="0"/>
          </a:p>
        </p:txBody>
      </p:sp>
      <p:sp>
        <p:nvSpPr>
          <p:cNvPr id="12" name="Text 0"/>
          <p:cNvSpPr/>
          <p:nvPr>
            <p:ph idx="100" type="title" hasCustomPrompt="1"/>
          </p:nvPr>
        </p:nvSpPr>
        <p:spPr>
          <a:xfrm>
            <a:off x="548640" y="1371600"/>
            <a:ext cx="8046720" cy="1097280"/>
          </a:xfrm>
          <a:prstGeom prst="rect">
            <a:avLst/>
          </a:prstGeom>
          <a:noFill/>
          <a:ln/>
        </p:spPr>
        <p:txBody>
          <a:bodyPr wrap="square" lIns="0" tIns="0" rIns="0" bIns="0" rtlCol="0" anchor="b"/>
          <a:lstStyle/>
          <a:p>
            <a:pPr algn="l" indent="0" marL="0">
              <a:buNone/>
            </a:pPr>
            <a:endParaRPr lang="en-US" sz="4400" dirty="0"/>
          </a:p>
        </p:txBody>
      </p:sp>
      <p:sp>
        <p:nvSpPr>
          <p:cNvPr id="13" name="Text 0"/>
          <p:cNvSpPr/>
          <p:nvPr>
            <p:ph idx="101" type="body" hasCustomPrompt="1"/>
          </p:nvPr>
        </p:nvSpPr>
        <p:spPr>
          <a:xfrm>
            <a:off x="548640" y="2606040"/>
            <a:ext cx="8046720" cy="128016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94360"/>
          </a:xfrm>
          <a:prstGeom prst="rect">
            <a:avLst/>
          </a:prstGeom>
          <a:noFill/>
          <a:ln/>
        </p:spPr>
        <p:txBody>
          <a:bodyPr wrap="square" lIns="0" tIns="0" rIns="0" bIns="0" rtlCol="0" anchor="ctr"/>
          <a:lstStyle/>
          <a:p>
            <a:pPr indent="0" marL="0">
              <a:buNone/>
            </a:pPr>
            <a:r>
              <a:rPr lang="en-US" sz="2800" b="1" dirty="0">
                <a:solidFill>
                  <a:schemeClr val="tx1"/>
                </a:solidFill>
              </a:rPr>
              <a:t>Sources</a:t>
            </a:r>
            <a:endParaRPr lang="en-US" sz="2800" dirty="0"/>
          </a:p>
        </p:txBody>
      </p:sp>
      <p:sp>
        <p:nvSpPr>
          <p:cNvPr id="3" name="Text 1"/>
          <p:cNvSpPr txBox="1"/>
          <p:nvPr/>
        </p:nvSpPr>
        <p:spPr>
          <a:xfrm>
            <a:off x="457200" y="960120"/>
            <a:ext cx="3977640" cy="35661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A1A1A"/>
                </a:solidFill>
              </a:rPr>
              <a:t>NVIDIA Form 10-K, fiscal year ended Jan 25, 2026 (SEC)</a:t>
            </a:r>
            <a:endParaRPr lang="en-US" sz="1100" dirty="0"/>
          </a:p>
          <a:p>
            <a:pPr marL="177800" indent="-177800">
              <a:spcAft>
                <a:spcPts val="600"/>
              </a:spcAft>
              <a:buSzPct val="100000"/>
              <a:buChar char="•"/>
            </a:pPr>
            <a:r>
              <a:rPr lang="en-US" sz="1100" dirty="0">
                <a:solidFill>
                  <a:srgbClr val="1A1A1A"/>
                </a:solidFill>
              </a:rPr>
              <a:t>NVIDIA Form 10-Q, quarter ended Jul 26, 2026 (SEC)</a:t>
            </a:r>
            <a:endParaRPr lang="en-US" sz="1100" dirty="0"/>
          </a:p>
          <a:p>
            <a:pPr marL="177800" indent="-177800">
              <a:spcAft>
                <a:spcPts val="600"/>
              </a:spcAft>
              <a:buSzPct val="100000"/>
              <a:buChar char="•"/>
            </a:pPr>
            <a:r>
              <a:rPr lang="en-US" sz="1100" dirty="0">
                <a:solidFill>
                  <a:srgbClr val="1A1A1A"/>
                </a:solidFill>
              </a:rPr>
              <a:t>NVIDIA Q2 FY2027 earnings release, Aug 26, 2026</a:t>
            </a:r>
            <a:endParaRPr lang="en-US" sz="1100" dirty="0"/>
          </a:p>
          <a:p>
            <a:pPr marL="177800" indent="-177800">
              <a:spcAft>
                <a:spcPts val="600"/>
              </a:spcAft>
              <a:buSzPct val="100000"/>
              <a:buChar char="•"/>
            </a:pPr>
            <a:r>
              <a:rPr lang="en-US" sz="1100" dirty="0">
                <a:solidFill>
                  <a:srgbClr val="1A1A1A"/>
                </a:solidFill>
              </a:rPr>
              <a:t>AMD Form 10-K 2025; Intel Form 10-K 2025 and earnings releases</a:t>
            </a:r>
            <a:endParaRPr lang="en-US" sz="1100" dirty="0"/>
          </a:p>
          <a:p>
            <a:pPr marL="177800" indent="-177800">
              <a:spcAft>
                <a:spcPts val="600"/>
              </a:spcAft>
              <a:buSzPct val="100000"/>
              <a:buChar char="•"/>
            </a:pPr>
            <a:r>
              <a:rPr lang="en-US" sz="1100" dirty="0">
                <a:solidFill>
                  <a:srgbClr val="1A1A1A"/>
                </a:solidFill>
              </a:rPr>
              <a:t>stockanalysis.com: NVDA, AMD, INTC statistics and financials (Oct 27, 2026)</a:t>
            </a:r>
            <a:endParaRPr lang="en-US" sz="1100" dirty="0"/>
          </a:p>
          <a:p>
            <a:pPr marL="177800" indent="-177800">
              <a:spcAft>
                <a:spcPts val="600"/>
              </a:spcAft>
              <a:buSzPct val="100000"/>
              <a:buChar char="•"/>
            </a:pPr>
            <a:r>
              <a:rPr lang="en-US" sz="1100" dirty="0">
                <a:solidFill>
                  <a:srgbClr val="1A1A1A"/>
                </a:solidFill>
              </a:rPr>
              <a:t>Benzinga semiconductor peer comparison, Sep 18, 2026</a:t>
            </a:r>
            <a:endParaRPr lang="en-US" sz="1100" dirty="0"/>
          </a:p>
          <a:p>
            <a:pPr marL="177800" indent="-177800">
              <a:spcAft>
                <a:spcPts val="600"/>
              </a:spcAft>
              <a:buSzPct val="100000"/>
              <a:buChar char="•"/>
            </a:pPr>
            <a:r>
              <a:rPr lang="en-US" sz="1100" dirty="0">
                <a:solidFill>
                  <a:srgbClr val="1A1A1A"/>
                </a:solidFill>
              </a:rPr>
              <a:t>CSIMarket semiconductor industry ratios, Q2 2026</a:t>
            </a:r>
            <a:endParaRPr lang="en-US" sz="1100" dirty="0"/>
          </a:p>
        </p:txBody>
      </p:sp>
      <p:sp>
        <p:nvSpPr>
          <p:cNvPr id="4" name="Text 2"/>
          <p:cNvSpPr txBox="1"/>
          <p:nvPr/>
        </p:nvSpPr>
        <p:spPr>
          <a:xfrm>
            <a:off x="4709160" y="960120"/>
            <a:ext cx="3977640" cy="35661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A1A1A"/>
                </a:solidFill>
              </a:rPr>
              <a:t>Motley Fool, Aug 23, 2026: "Your Last Chance to Buy Nvidia Stock for Cheap in 2026 May Be Near"</a:t>
            </a:r>
            <a:endParaRPr lang="en-US" sz="1100" dirty="0"/>
          </a:p>
          <a:p>
            <a:pPr marL="177800" indent="-177800">
              <a:spcAft>
                <a:spcPts val="600"/>
              </a:spcAft>
              <a:buSzPct val="100000"/>
              <a:buChar char="•"/>
            </a:pPr>
            <a:r>
              <a:rPr lang="en-US" sz="1100" dirty="0">
                <a:solidFill>
                  <a:srgbClr val="1A1A1A"/>
                </a:solidFill>
              </a:rPr>
              <a:t>Rallies.ai, Apr 21, 2026: "NVIDIA's $4.3 Trillion Valuation Faces Growth Limits as Rivals Chip Away Margins"</a:t>
            </a:r>
            <a:endParaRPr lang="en-US" sz="1100" dirty="0"/>
          </a:p>
          <a:p>
            <a:pPr marL="177800" indent="-177800">
              <a:spcAft>
                <a:spcPts val="600"/>
              </a:spcAft>
              <a:buSzPct val="100000"/>
              <a:buChar char="•"/>
            </a:pPr>
            <a:r>
              <a:rPr lang="en-US" sz="1100" dirty="0">
                <a:solidFill>
                  <a:srgbClr val="1A1A1A"/>
                </a:solidFill>
              </a:rPr>
              <a:t>Yahoo Finance: "AMD MI450 AI Deals With Meta and OpenAI Test Rich Valuation"</a:t>
            </a:r>
            <a:endParaRPr lang="en-US" sz="1100" dirty="0"/>
          </a:p>
          <a:p>
            <a:pPr marL="177800" indent="-177800">
              <a:spcAft>
                <a:spcPts val="600"/>
              </a:spcAft>
              <a:buSzPct val="100000"/>
              <a:buChar char="•"/>
            </a:pPr>
            <a:r>
              <a:rPr lang="en-US" sz="1100" dirty="0">
                <a:solidFill>
                  <a:srgbClr val="1A1A1A"/>
                </a:solidFill>
              </a:rPr>
              <a:t>24/7 Wall St., Jul 2, 2026: "Has Lip-Bu Tan's Magic Worn Off?"; SiliconANGLE, Apr 23, 2026</a:t>
            </a:r>
            <a:endParaRPr lang="en-US" sz="1100" dirty="0"/>
          </a:p>
          <a:p>
            <a:pPr marL="177800" indent="-177800">
              <a:spcAft>
                <a:spcPts val="600"/>
              </a:spcAft>
              <a:buSzPct val="100000"/>
              <a:buChar char="•"/>
            </a:pPr>
            <a:r>
              <a:rPr lang="en-US" sz="1100" dirty="0">
                <a:solidFill>
                  <a:srgbClr val="1A1A1A"/>
                </a:solidFill>
              </a:rPr>
              <a:t>Axios, Jan 14, 2026; White &amp; Case: Section 232 chip tariff</a:t>
            </a:r>
            <a:endParaRPr lang="en-US" sz="1100" dirty="0"/>
          </a:p>
          <a:p>
            <a:pPr marL="177800" indent="-177800">
              <a:spcAft>
                <a:spcPts val="600"/>
              </a:spcAft>
              <a:buSzPct val="100000"/>
              <a:buChar char="•"/>
            </a:pPr>
            <a:r>
              <a:rPr lang="en-US" sz="1100" dirty="0">
                <a:solidFill>
                  <a:srgbClr val="1A1A1A"/>
                </a:solidFill>
              </a:rPr>
              <a:t>CNBC, Feb 26, 2026: NVIDIA China chip sales and export controls</a:t>
            </a:r>
            <a:endParaRPr lang="en-US" sz="1100" dirty="0"/>
          </a:p>
          <a:p>
            <a:pPr marL="177800" indent="-177800">
              <a:spcAft>
                <a:spcPts val="600"/>
              </a:spcAft>
              <a:buSzPct val="100000"/>
              <a:buChar char="•"/>
            </a:pPr>
            <a:r>
              <a:rPr lang="en-US" sz="1100" dirty="0">
                <a:solidFill>
                  <a:srgbClr val="1A1A1A"/>
                </a:solidFill>
              </a:rPr>
              <a:t>CNN, Oct 14, 2026; 24/7 Wall St., Oct 7, 2026: inflation, rates and AI stocks</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5A"/>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NVIDIA Project">
  <a:themeElements>
    <a:clrScheme name="NVIDIA Project">
      <a:dk1>
        <a:srgbClr val="1A1A1A"/>
      </a:dk1>
      <a:lt1>
        <a:srgbClr val="FFFFFF"/>
      </a:lt1>
      <a:dk2>
        <a:srgbClr val="111111"/>
      </a:dk2>
      <a:lt2>
        <a:srgbClr val="F2F4EF"/>
      </a:lt2>
      <a:accent1>
        <a:srgbClr val="76B900"/>
      </a:accent1>
      <a:accent2>
        <a:srgbClr val="C0392B"/>
      </a:accent2>
      <a:accent3>
        <a:srgbClr val="2E86C1"/>
      </a:accent3>
      <a:accent4>
        <a:srgbClr val="5F6B5A"/>
      </a:accent4>
      <a:accent5>
        <a:srgbClr val="E3E7DF"/>
      </a:accent5>
      <a:accent6>
        <a:srgbClr val="F2B134"/>
      </a:accent6>
      <a:hlink>
        <a:srgbClr val="2E86C1"/>
      </a:hlink>
      <a:folHlink>
        <a:srgbClr val="5F6B5A"/>
      </a:folHlink>
    </a:clrScheme>
    <a:fontScheme name="NVIDIA Projec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NVIDIA Group Project</dc:title>
  <dc:subject>PptxGenJS Presentation</dc:subject>
  <dc:creator>Group project</dc:creator>
  <cp:lastModifiedBy>Group project</cp:lastModifiedBy>
  <cp:revision>1</cp:revision>
  <dcterms:created xsi:type="dcterms:W3CDTF">2026-10-29T19:19:46Z</dcterms:created>
  <dcterms:modified xsi:type="dcterms:W3CDTF">2026-10-29T19:19:46Z</dcterms:modified>
</cp:coreProperties>
</file>